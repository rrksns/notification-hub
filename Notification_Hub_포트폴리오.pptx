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harts/chart1.xml" ContentType="application/vnd.openxmlformats-officedocument.drawingml.char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94"/>
  </p:normalViewPr>
  <p:slideViewPr>
    <p:cSldViewPr snapToGrid="0" snapToObjects="1">
      <p:cViewPr varScale="1">
        <p:scale>
          <a:sx n="121" d="100"/>
          <a:sy n="121" d="100"/>
        </p:scale>
        <p:origin x="744" y="17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____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커버리지</c:v>
                </c:pt>
              </c:strCache>
            </c:strRef>
          </c:tx>
          <c:spPr>
            <a:solidFill>
              <a:srgbClr val="D97757"/>
            </a:solidFill>
          </c:spPr>
          <c:invertIfNegative val="1"/>
          <c:dLbls>
            <c:numFmt formatCode="0.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1">
                    <a:solidFill>
                      <a:srgbClr val="201F1B"/>
                    </a:solidFill>
                    <a:latin typeface="Apple SD Gothic Neo"/>
                  </a:defRPr>
                </a:pPr>
                <a:endParaRPr lang="ko-K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user</c:v>
                </c:pt>
                <c:pt idx="1">
                  <c:v>notification</c:v>
                </c:pt>
                <c:pt idx="2">
                  <c:v>delivery</c:v>
                </c:pt>
                <c:pt idx="3">
                  <c:v>analytics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90</c:v>
                </c:pt>
                <c:pt idx="1">
                  <c:v>83.5</c:v>
                </c:pt>
                <c:pt idx="2">
                  <c:v>93.4</c:v>
                </c:pt>
                <c:pt idx="3">
                  <c:v>94.7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6932-104E-A410-34870866D8AA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E0DACC"/>
            </a:solidFill>
          </a:ln>
        </c:spPr>
        <c:txPr>
          <a:bodyPr/>
          <a:lstStyle/>
          <a:p>
            <a:pPr>
              <a:defRPr sz="1000">
                <a:solidFill>
                  <a:srgbClr val="33312B"/>
                </a:solidFill>
                <a:latin typeface="Apple SD Gothic Neo"/>
              </a:defRPr>
            </a:pPr>
            <a:endParaRPr lang="ko-KR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100"/>
          <c:min val="0"/>
        </c:scaling>
        <c:delete val="0"/>
        <c:axPos val="l"/>
        <c:majorGridlines>
          <c:spPr>
            <a:ln w="6350">
              <a:solidFill>
                <a:srgbClr val="E0DACC"/>
              </a:solidFill>
            </a:ln>
          </c:spPr>
        </c:majorGridlines>
        <c:numFmt formatCode="General" sourceLinked="1"/>
        <c:majorTickMark val="out"/>
        <c:minorTickMark val="none"/>
        <c:tickLblPos val="nextTo"/>
        <c:spPr>
          <a:ln>
            <a:solidFill>
              <a:srgbClr val="E0DACC"/>
            </a:solidFill>
          </a:ln>
        </c:spPr>
        <c:txPr>
          <a:bodyPr/>
          <a:lstStyle/>
          <a:p>
            <a:pPr>
              <a:defRPr sz="900">
                <a:solidFill>
                  <a:srgbClr val="6E6A60"/>
                </a:solidFill>
              </a:defRPr>
            </a:pPr>
            <a:endParaRPr lang="ko-KR"/>
          </a:p>
        </c:txPr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ko-KR"/>
    </a:p>
  </c:tx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21B99B9-E4FF-CB41-BEE4-C666CF56D69E}" type="datetimeFigureOut">
              <a:rPr kumimoji="1" lang="ko-KR" altLang="en-US" smtClean="0"/>
              <a:t>2026. 6. 5.</a:t>
            </a:fld>
            <a:endParaRPr kumimoji="1"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AF689AD-C111-104A-BE33-8E46D2C94058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7542998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도입부에서 '왜 만들었는가'를 공감시키는 슬라이드입니다. 알림은 거의 모든 서비스가 필요로 하지만 재시도·통계·멀티채널을 제대로 구현하려면 부담이 큽니다. 채널 실제 연동(SendGrid/Twilio/FCM)은 스텁이며 아키텍처 설계에 집중했다는 점을 솔직히 밝힙니다.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핵심은 '왜 Clean Architecture인가'입니다. 도메인이 프레임워크를 모르기 때문에 인프라 없이 단위 테스트가 쉽고 기술 교체에 강합니다. ArchUnit으로 'domain이 infrastructure를 import하면 빌드 실패'하도록 강제해 설계가 시간이 지나도 무너지지 않게 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동기 호출이 아니라 이벤트로 단계를 분리한 이유를 설명합니다. 발송 채널이 느리거나 장애여도 고객사는 접수 응답을 즉시 받습니다. 파티션 3개로 발송을 병렬 처리하고, Zipkin으로 Kafka 구간까지 추적합니다.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기술 면접관이 가장 주목할 부분입니다. 멱등성으로 중복을 흡수하고, 재시도·DLQ로 유실을 막고, Circuit Breaker로 장애 전파를 차단했습니다. 통계 집계 동시성 버그를 read-modify-write에서 MongoDB 원자적 연산으로 바꾼 경험도 함께 언급합니다.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기능 구현으로 끝내지 않고 '운영'까지 고려했음을 보여줍니다. 커버리지 수치는 도메인·애플리케이션 계층 기준이며, 비즈니스 로직이 프레임워크와 분리되어 높은 커버리지가 가능했다는 점을 Clean Architecture 효과와 연결합니다.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822960" y="868680"/>
            <a:ext cx="603504" cy="603504"/>
          </a:xfrm>
          <a:prstGeom prst="roundRect">
            <a:avLst>
              <a:gd name="adj" fmla="val 28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603504" cy="603504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Apple SD Gothic Neo"/>
              </a:rPr>
              <a:t>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331720"/>
            <a:ext cx="822960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300" b="1">
                <a:solidFill>
                  <a:srgbClr val="C2613F"/>
                </a:solidFill>
                <a:latin typeface="Apple SD Gothic Neo"/>
              </a:rPr>
              <a:t>B2B SaaS · EVENT-DRIVEN MSA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6384" y="2697480"/>
            <a:ext cx="10058400" cy="109728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5800" b="1">
                <a:solidFill>
                  <a:srgbClr val="33312B"/>
                </a:solidFill>
                <a:latin typeface="Apple SD Gothic Neo"/>
              </a:rPr>
              <a:t>Notification Hub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3950208"/>
            <a:ext cx="9601200" cy="5486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700" b="0">
                <a:solidFill>
                  <a:srgbClr val="6E6A60"/>
                </a:solidFill>
                <a:latin typeface="Apple SD Gothic Neo"/>
              </a:rPr>
              <a:t>멀티테넌트 알림 발송 플랫폼 · Clean Architecture 기반 Event-Driven MSA</a:t>
            </a:r>
          </a:p>
        </p:txBody>
      </p:sp>
      <p:sp>
        <p:nvSpPr>
          <p:cNvPr id="8" name="Rectangle 7"/>
          <p:cNvSpPr/>
          <p:nvPr/>
        </p:nvSpPr>
        <p:spPr>
          <a:xfrm>
            <a:off x="841248" y="4617720"/>
            <a:ext cx="23774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41248" y="5989320"/>
            <a:ext cx="731520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300" b="0" dirty="0" err="1">
                <a:solidFill>
                  <a:srgbClr val="33312B"/>
                </a:solidFill>
                <a:latin typeface="Apple SD Gothic Neo"/>
              </a:rPr>
              <a:t>이설</a:t>
            </a:r>
            <a:r>
              <a:rPr sz="1300" b="0" dirty="0">
                <a:solidFill>
                  <a:srgbClr val="33312B"/>
                </a:solidFill>
                <a:latin typeface="Apple SD Gothic Neo"/>
              </a:rPr>
              <a:t>      |      2026-06-05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869680" y="1371600"/>
            <a:ext cx="2468880" cy="1371600"/>
          </a:xfrm>
          <a:prstGeom prst="roundRect">
            <a:avLst>
              <a:gd name="adj" fmla="val 10000"/>
            </a:avLst>
          </a:prstGeom>
          <a:solidFill>
            <a:srgbClr val="EAE6DA"/>
          </a:solidFill>
          <a:ln w="12700">
            <a:solidFill>
              <a:srgbClr val="E0DA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9125711" y="1874519"/>
            <a:ext cx="2468880" cy="1371600"/>
          </a:xfrm>
          <a:prstGeom prst="roundRect">
            <a:avLst>
              <a:gd name="adj" fmla="val 10000"/>
            </a:avLst>
          </a:prstGeom>
          <a:solidFill>
            <a:srgbClr val="F2EFE7"/>
          </a:solidFill>
          <a:ln w="12700">
            <a:solidFill>
              <a:srgbClr val="E0DA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9381744" y="2377440"/>
            <a:ext cx="2468880" cy="1371600"/>
          </a:xfrm>
          <a:prstGeom prst="roundRect">
            <a:avLst>
              <a:gd name="adj" fmla="val 10000"/>
            </a:avLst>
          </a:prstGeom>
          <a:solidFill>
            <a:srgbClr val="F4E2D7"/>
          </a:solidFill>
          <a:ln w="12700">
            <a:solidFill>
              <a:srgbClr val="E0DA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189720" y="1572768"/>
            <a:ext cx="182880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200" b="1">
                <a:solidFill>
                  <a:srgbClr val="6E6A60"/>
                </a:solidFill>
                <a:latin typeface="Apple SD Gothic Neo"/>
              </a:rPr>
              <a:t>Email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45752" y="2075688"/>
            <a:ext cx="182880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200" b="1">
                <a:solidFill>
                  <a:srgbClr val="6E6A60"/>
                </a:solidFill>
                <a:latin typeface="Apple SD Gothic Neo"/>
              </a:rPr>
              <a:t>SMS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01784" y="2578608"/>
            <a:ext cx="182880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200" b="1">
                <a:solidFill>
                  <a:srgbClr val="C2613F"/>
                </a:solidFill>
                <a:latin typeface="Apple SD Gothic Neo"/>
              </a:rPr>
              <a:t>Push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640080"/>
            <a:ext cx="548640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300" b="1">
                <a:solidFill>
                  <a:srgbClr val="C2613F"/>
                </a:solidFill>
                <a:latin typeface="Apple SD Gothic Neo"/>
              </a:rPr>
              <a:t>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5486400" cy="7315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3400" b="1">
                <a:solidFill>
                  <a:srgbClr val="33312B"/>
                </a:solidFill>
                <a:latin typeface="Apple SD Gothic Neo"/>
              </a:rPr>
              <a:t>목차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41248" y="2057400"/>
            <a:ext cx="512064" cy="512064"/>
          </a:xfrm>
          <a:prstGeom prst="roundRect">
            <a:avLst>
              <a:gd name="adj" fmla="val 2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41248" y="2057400"/>
            <a:ext cx="512064" cy="512064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pple SD Gothic Neo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72768" y="2057400"/>
            <a:ext cx="9144000" cy="512064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/>
            <a:r>
              <a:rPr sz="1800" b="0">
                <a:solidFill>
                  <a:srgbClr val="33312B"/>
                </a:solidFill>
                <a:latin typeface="Apple SD Gothic Neo"/>
              </a:rPr>
              <a:t>프로젝트 개요 &amp; 문제 정의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41248" y="2770632"/>
            <a:ext cx="512064" cy="512064"/>
          </a:xfrm>
          <a:prstGeom prst="roundRect">
            <a:avLst>
              <a:gd name="adj" fmla="val 2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41248" y="2770632"/>
            <a:ext cx="512064" cy="512064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pple SD Gothic Neo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72768" y="2770632"/>
            <a:ext cx="9144000" cy="512064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/>
            <a:r>
              <a:rPr sz="1800" b="0">
                <a:solidFill>
                  <a:srgbClr val="33312B"/>
                </a:solidFill>
                <a:latin typeface="Apple SD Gothic Neo"/>
              </a:rPr>
              <a:t>시스템 아키텍처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1248" y="3483864"/>
            <a:ext cx="512064" cy="512064"/>
          </a:xfrm>
          <a:prstGeom prst="roundRect">
            <a:avLst>
              <a:gd name="adj" fmla="val 2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41248" y="3483864"/>
            <a:ext cx="512064" cy="512064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pple SD Gothic Neo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72768" y="3483864"/>
            <a:ext cx="9144000" cy="512064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/>
            <a:r>
              <a:rPr sz="1800" b="0">
                <a:solidFill>
                  <a:srgbClr val="33312B"/>
                </a:solidFill>
                <a:latin typeface="Apple SD Gothic Neo"/>
              </a:rPr>
              <a:t>핵심 플로우 — 이벤트 드리븐 파이프라인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41248" y="4197096"/>
            <a:ext cx="512064" cy="512064"/>
          </a:xfrm>
          <a:prstGeom prst="roundRect">
            <a:avLst>
              <a:gd name="adj" fmla="val 2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41248" y="4197096"/>
            <a:ext cx="512064" cy="512064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pple SD Gothic Neo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72768" y="4197096"/>
            <a:ext cx="9144000" cy="512064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/>
            <a:r>
              <a:rPr sz="1800" b="0">
                <a:solidFill>
                  <a:srgbClr val="33312B"/>
                </a:solidFill>
                <a:latin typeface="Apple SD Gothic Neo"/>
              </a:rPr>
              <a:t>신뢰성 엔지니어링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41248" y="4910328"/>
            <a:ext cx="512064" cy="512064"/>
          </a:xfrm>
          <a:prstGeom prst="roundRect">
            <a:avLst>
              <a:gd name="adj" fmla="val 2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41248" y="4910328"/>
            <a:ext cx="512064" cy="512064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pple SD Gothic Neo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72768" y="4910328"/>
            <a:ext cx="9144000" cy="512064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/>
            <a:r>
              <a:rPr sz="1800" b="0">
                <a:solidFill>
                  <a:srgbClr val="33312B"/>
                </a:solidFill>
                <a:latin typeface="Apple SD Gothic Neo"/>
              </a:rPr>
              <a:t>운영 &amp; 품질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41248" y="5623560"/>
            <a:ext cx="512064" cy="512064"/>
          </a:xfrm>
          <a:prstGeom prst="roundRect">
            <a:avLst>
              <a:gd name="adj" fmla="val 22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41248" y="5623560"/>
            <a:ext cx="512064" cy="512064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pple SD Gothic Neo"/>
              </a:rPr>
              <a:t>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72768" y="5623560"/>
            <a:ext cx="9144000" cy="512064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/>
            <a:r>
              <a:rPr sz="1800" b="0">
                <a:solidFill>
                  <a:srgbClr val="33312B"/>
                </a:solidFill>
                <a:latin typeface="Apple SD Gothic Neo"/>
              </a:rPr>
              <a:t>성과 요약 &amp; 배운 점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01F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77240" y="1828800"/>
            <a:ext cx="3657600" cy="201168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/>
            <a:r>
              <a:rPr sz="12000" b="1">
                <a:solidFill>
                  <a:srgbClr val="D97757"/>
                </a:solidFill>
                <a:latin typeface="Apple SD Gothic Neo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91840" y="2651760"/>
            <a:ext cx="8229600" cy="109728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Apple SD Gothic Neo"/>
              </a:rPr>
              <a:t>프로젝트 개요</a:t>
            </a:r>
          </a:p>
        </p:txBody>
      </p:sp>
      <p:sp>
        <p:nvSpPr>
          <p:cNvPr id="5" name="Rectangle 4"/>
          <p:cNvSpPr/>
          <p:nvPr/>
        </p:nvSpPr>
        <p:spPr>
          <a:xfrm>
            <a:off x="3337560" y="3794760"/>
            <a:ext cx="2743200" cy="457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420624"/>
            <a:ext cx="10058400" cy="310896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150" b="1">
                <a:solidFill>
                  <a:srgbClr val="C2613F"/>
                </a:solidFill>
                <a:latin typeface="Apple SD Gothic Neo"/>
              </a:rPr>
              <a:t>01 — 프로젝트 개요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1155680" cy="56692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2700" b="1">
                <a:solidFill>
                  <a:srgbClr val="33312B"/>
                </a:solidFill>
                <a:latin typeface="Apple SD Gothic Neo"/>
              </a:rPr>
              <a:t>프로젝트 개요 &amp; 문제 정의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481328"/>
            <a:ext cx="11064240" cy="841248"/>
          </a:xfrm>
          <a:prstGeom prst="roundRect">
            <a:avLst>
              <a:gd name="adj" fmla="val 10000"/>
            </a:avLst>
          </a:prstGeom>
          <a:solidFill>
            <a:srgbClr val="F2EFE7"/>
          </a:solidFill>
          <a:ln w="12700">
            <a:solidFill>
              <a:srgbClr val="E0DA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66928" y="1481328"/>
            <a:ext cx="91440" cy="8412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41248" y="1481328"/>
            <a:ext cx="10607040" cy="8412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200" b="1">
                <a:solidFill>
                  <a:srgbClr val="C2613F"/>
                </a:solidFill>
                <a:latin typeface="Apple SD Gothic Neo"/>
              </a:rPr>
              <a:t>핵심   </a:t>
            </a:r>
            <a:r>
              <a:rPr sz="1250" b="1">
                <a:solidFill>
                  <a:srgbClr val="33312B"/>
                </a:solidFill>
                <a:latin typeface="Apple SD Gothic Neo"/>
              </a:rPr>
              <a:t>고객사가 알림 인프라를 직접 구축할 필요 없이, API 한 번으로 Email/SMS/Push 발송을 위임하는 B2B SaaS 플랫폼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15768"/>
            <a:ext cx="4572000" cy="35661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D97757"/>
                </a:solidFill>
                <a:latin typeface="Apple SD Gothic Neo"/>
              </a:rPr>
              <a:t>▸  </a:t>
            </a:r>
            <a:r>
              <a:rPr sz="1250">
                <a:solidFill>
                  <a:srgbClr val="33312B"/>
                </a:solidFill>
                <a:latin typeface="Apple SD Gothic Neo"/>
              </a:rPr>
              <a:t>문제: 모든 서비스가 알림 발송·재시도·통계 인프라를 중복 구축 → 비용·운영 부담</a:t>
            </a:r>
          </a:p>
          <a:p>
            <a:pPr>
              <a:lnSpc>
                <a:spcPct val="112000"/>
              </a:lnSpc>
              <a:spcBef>
                <a:spcPts val="1200"/>
              </a:spcBef>
              <a:spcAft>
                <a:spcPts val="0"/>
              </a:spcAft>
            </a:pPr>
            <a:r>
              <a:rPr sz="1250" b="1">
                <a:solidFill>
                  <a:srgbClr val="D97757"/>
                </a:solidFill>
                <a:latin typeface="Apple SD Gothic Neo"/>
              </a:rPr>
              <a:t>▸  </a:t>
            </a:r>
            <a:r>
              <a:rPr sz="1250">
                <a:solidFill>
                  <a:srgbClr val="33312B"/>
                </a:solidFill>
                <a:latin typeface="Apple SD Gothic Neo"/>
              </a:rPr>
              <a:t>해결: 멀티테넌트 허브가 발송·재시도·집계를 대행, 고객사는 REST API만 호출</a:t>
            </a:r>
          </a:p>
          <a:p>
            <a:pPr>
              <a:lnSpc>
                <a:spcPct val="112000"/>
              </a:lnSpc>
              <a:spcBef>
                <a:spcPts val="1200"/>
              </a:spcBef>
              <a:spcAft>
                <a:spcPts val="0"/>
              </a:spcAft>
            </a:pPr>
            <a:r>
              <a:rPr sz="1250" b="1">
                <a:solidFill>
                  <a:srgbClr val="D97757"/>
                </a:solidFill>
                <a:latin typeface="Apple SD Gothic Neo"/>
              </a:rPr>
              <a:t>▸  </a:t>
            </a:r>
            <a:r>
              <a:rPr sz="1250">
                <a:solidFill>
                  <a:srgbClr val="33312B"/>
                </a:solidFill>
                <a:latin typeface="Apple SD Gothic Neo"/>
              </a:rPr>
              <a:t>테넌트 격리: JWT 클레임 기반 X-Tenant-Id 주입으로 고객사 간 데이터 완전 분리</a:t>
            </a:r>
          </a:p>
          <a:p>
            <a:pPr>
              <a:lnSpc>
                <a:spcPct val="112000"/>
              </a:lnSpc>
              <a:spcBef>
                <a:spcPts val="1200"/>
              </a:spcBef>
              <a:spcAft>
                <a:spcPts val="0"/>
              </a:spcAft>
            </a:pPr>
            <a:r>
              <a:rPr sz="1250" b="1">
                <a:solidFill>
                  <a:srgbClr val="D97757"/>
                </a:solidFill>
                <a:latin typeface="Apple SD Gothic Neo"/>
              </a:rPr>
              <a:t>▸  </a:t>
            </a:r>
            <a:r>
              <a:rPr sz="1250">
                <a:solidFill>
                  <a:srgbClr val="33312B"/>
                </a:solidFill>
                <a:latin typeface="Apple SD Gothic Neo"/>
              </a:rPr>
              <a:t>규모: Java 17 · Spring Boot 3.2 · 6개 MSA · Kafka 이벤트 파이프라인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32120" y="2624327"/>
            <a:ext cx="2926079" cy="310896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/>
            <a:r>
              <a:rPr sz="1150" b="1">
                <a:solidFill>
                  <a:srgbClr val="6E6A60"/>
                </a:solidFill>
                <a:latin typeface="Apple SD Gothic Neo"/>
              </a:rPr>
              <a:t>기존 — 서비스마다 각자 구축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0" y="3081527"/>
            <a:ext cx="2377440" cy="676656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5875">
            <a:solidFill>
              <a:srgbClr val="E0DA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669280" y="3162726"/>
            <a:ext cx="2377440" cy="338328"/>
          </a:xfrm>
          <a:prstGeom prst="rect">
            <a:avLst/>
          </a:prstGeom>
          <a:noFill/>
        </p:spPr>
        <p:txBody>
          <a:bodyPr wrap="square" lIns="25400" tIns="12700" rIns="25400" bIns="12700" anchor="b">
            <a:spAutoFit/>
          </a:bodyPr>
          <a:lstStyle/>
          <a:p>
            <a:pPr algn="ctr"/>
            <a:r>
              <a:rPr sz="1200" b="1">
                <a:solidFill>
                  <a:srgbClr val="33312B"/>
                </a:solidFill>
                <a:latin typeface="Apple SD Gothic Neo"/>
              </a:rPr>
              <a:t>서비스 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0" y="3472406"/>
            <a:ext cx="2377440" cy="284195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/>
            <a:r>
              <a:rPr sz="850" b="0" dirty="0">
                <a:solidFill>
                  <a:srgbClr val="C2613F"/>
                </a:solidFill>
                <a:latin typeface="Apple SD Gothic Neo"/>
              </a:rPr>
              <a:t>+ </a:t>
            </a:r>
            <a:r>
              <a:rPr sz="850" b="0" dirty="0" err="1">
                <a:solidFill>
                  <a:srgbClr val="C2613F"/>
                </a:solidFill>
                <a:latin typeface="Apple SD Gothic Neo"/>
              </a:rPr>
              <a:t>알림·재시도·통계</a:t>
            </a:r>
            <a:r>
              <a:rPr sz="850" b="0" dirty="0">
                <a:solidFill>
                  <a:srgbClr val="C2613F"/>
                </a:solidFill>
                <a:latin typeface="Apple SD Gothic Neo"/>
              </a:rPr>
              <a:t> </a:t>
            </a:r>
            <a:r>
              <a:rPr sz="850" b="0" dirty="0" err="1">
                <a:solidFill>
                  <a:srgbClr val="C2613F"/>
                </a:solidFill>
                <a:latin typeface="Apple SD Gothic Neo"/>
              </a:rPr>
              <a:t>직접</a:t>
            </a:r>
            <a:r>
              <a:rPr sz="850" b="0" dirty="0">
                <a:solidFill>
                  <a:srgbClr val="C2613F"/>
                </a:solidFill>
                <a:latin typeface="Apple SD Gothic Neo"/>
              </a:rPr>
              <a:t> </a:t>
            </a:r>
            <a:r>
              <a:rPr sz="850" b="0" dirty="0" err="1">
                <a:solidFill>
                  <a:srgbClr val="C2613F"/>
                </a:solidFill>
                <a:latin typeface="Apple SD Gothic Neo"/>
              </a:rPr>
              <a:t>구현</a:t>
            </a:r>
            <a:endParaRPr sz="850" b="0" dirty="0">
              <a:solidFill>
                <a:srgbClr val="C2613F"/>
              </a:solidFill>
              <a:latin typeface="Apple SD Gothic Neo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5669280" y="3922776"/>
            <a:ext cx="2377440" cy="676656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5875">
            <a:solidFill>
              <a:srgbClr val="E0DA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669280" y="4003974"/>
            <a:ext cx="2377440" cy="338328"/>
          </a:xfrm>
          <a:prstGeom prst="rect">
            <a:avLst/>
          </a:prstGeom>
          <a:noFill/>
        </p:spPr>
        <p:txBody>
          <a:bodyPr wrap="square" lIns="25400" tIns="12700" rIns="25400" bIns="12700" anchor="b">
            <a:spAutoFit/>
          </a:bodyPr>
          <a:lstStyle/>
          <a:p>
            <a:pPr algn="ctr"/>
            <a:r>
              <a:rPr sz="1200" b="1">
                <a:solidFill>
                  <a:srgbClr val="33312B"/>
                </a:solidFill>
                <a:latin typeface="Apple SD Gothic Neo"/>
              </a:rPr>
              <a:t>서비스 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0" y="4313654"/>
            <a:ext cx="2377440" cy="284195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/>
            <a:r>
              <a:rPr sz="850" b="0" dirty="0">
                <a:solidFill>
                  <a:srgbClr val="C2613F"/>
                </a:solidFill>
                <a:latin typeface="Apple SD Gothic Neo"/>
              </a:rPr>
              <a:t>+ </a:t>
            </a:r>
            <a:r>
              <a:rPr sz="850" b="0" dirty="0" err="1">
                <a:solidFill>
                  <a:srgbClr val="C2613F"/>
                </a:solidFill>
                <a:latin typeface="Apple SD Gothic Neo"/>
              </a:rPr>
              <a:t>알림·재시도·통계</a:t>
            </a:r>
            <a:r>
              <a:rPr sz="850" b="0" dirty="0">
                <a:solidFill>
                  <a:srgbClr val="C2613F"/>
                </a:solidFill>
                <a:latin typeface="Apple SD Gothic Neo"/>
              </a:rPr>
              <a:t> </a:t>
            </a:r>
            <a:r>
              <a:rPr sz="850" b="0" dirty="0" err="1">
                <a:solidFill>
                  <a:srgbClr val="C2613F"/>
                </a:solidFill>
                <a:latin typeface="Apple SD Gothic Neo"/>
              </a:rPr>
              <a:t>직접</a:t>
            </a:r>
            <a:r>
              <a:rPr sz="850" b="0" dirty="0">
                <a:solidFill>
                  <a:srgbClr val="C2613F"/>
                </a:solidFill>
                <a:latin typeface="Apple SD Gothic Neo"/>
              </a:rPr>
              <a:t> </a:t>
            </a:r>
            <a:r>
              <a:rPr sz="850" b="0" dirty="0" err="1">
                <a:solidFill>
                  <a:srgbClr val="C2613F"/>
                </a:solidFill>
                <a:latin typeface="Apple SD Gothic Neo"/>
              </a:rPr>
              <a:t>구현</a:t>
            </a:r>
            <a:endParaRPr sz="850" b="0" dirty="0">
              <a:solidFill>
                <a:srgbClr val="C2613F"/>
              </a:solidFill>
              <a:latin typeface="Apple SD Gothic Neo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5669280" y="4764024"/>
            <a:ext cx="2377440" cy="676656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5875">
            <a:solidFill>
              <a:srgbClr val="E0DA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669280" y="4845222"/>
            <a:ext cx="2377440" cy="338328"/>
          </a:xfrm>
          <a:prstGeom prst="rect">
            <a:avLst/>
          </a:prstGeom>
          <a:noFill/>
        </p:spPr>
        <p:txBody>
          <a:bodyPr wrap="square" lIns="25400" tIns="12700" rIns="25400" bIns="12700" anchor="b">
            <a:spAutoFit/>
          </a:bodyPr>
          <a:lstStyle/>
          <a:p>
            <a:pPr algn="ctr"/>
            <a:r>
              <a:rPr sz="1200" b="1">
                <a:solidFill>
                  <a:srgbClr val="33312B"/>
                </a:solidFill>
                <a:latin typeface="Apple SD Gothic Neo"/>
              </a:rPr>
              <a:t>서비스 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0" y="5154902"/>
            <a:ext cx="2377440" cy="284195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/>
            <a:r>
              <a:rPr sz="850" b="0">
                <a:solidFill>
                  <a:srgbClr val="C2613F"/>
                </a:solidFill>
                <a:latin typeface="Apple SD Gothic Neo"/>
              </a:rPr>
              <a:t>+ 알림·재시도·통계 직접 구현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531352" y="3035808"/>
            <a:ext cx="18288" cy="2697480"/>
          </a:xfrm>
          <a:prstGeom prst="rect">
            <a:avLst/>
          </a:prstGeom>
          <a:solidFill>
            <a:srgbClr val="E0D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549640" y="2624327"/>
            <a:ext cx="3017520" cy="310896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/>
            <a:r>
              <a:rPr sz="1150" b="1">
                <a:solidFill>
                  <a:srgbClr val="C2613F"/>
                </a:solidFill>
                <a:latin typeface="Apple SD Gothic Neo"/>
              </a:rPr>
              <a:t>Notification Hub — 단일 허브 위임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686800" y="3127248"/>
            <a:ext cx="1051560" cy="420624"/>
          </a:xfrm>
          <a:prstGeom prst="roundRect">
            <a:avLst>
              <a:gd name="adj" fmla="val 14000"/>
            </a:avLst>
          </a:prstGeom>
          <a:solidFill>
            <a:srgbClr val="F2EFE7"/>
          </a:solidFill>
          <a:ln w="15875">
            <a:solidFill>
              <a:srgbClr val="E0DA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686800" y="3127248"/>
            <a:ext cx="1051560" cy="420624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950" b="1">
                <a:solidFill>
                  <a:srgbClr val="33312B"/>
                </a:solidFill>
                <a:latin typeface="Apple SD Gothic Neo"/>
              </a:rPr>
              <a:t>서비스 A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9765792" y="3337560"/>
            <a:ext cx="548640" cy="768096"/>
          </a:xfrm>
          <a:prstGeom prst="line">
            <a:avLst/>
          </a:prstGeom>
          <a:ln w="17780">
            <a:solidFill>
              <a:srgbClr val="D9775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8686800" y="3694176"/>
            <a:ext cx="1051560" cy="420624"/>
          </a:xfrm>
          <a:prstGeom prst="roundRect">
            <a:avLst>
              <a:gd name="adj" fmla="val 14000"/>
            </a:avLst>
          </a:prstGeom>
          <a:solidFill>
            <a:srgbClr val="F2EFE7"/>
          </a:solidFill>
          <a:ln w="15875">
            <a:solidFill>
              <a:srgbClr val="E0DA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686800" y="3694176"/>
            <a:ext cx="1051560" cy="420624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950" b="1">
                <a:solidFill>
                  <a:srgbClr val="33312B"/>
                </a:solidFill>
                <a:latin typeface="Apple SD Gothic Neo"/>
              </a:rPr>
              <a:t>서비스 B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9765792" y="3904488"/>
            <a:ext cx="548640" cy="201168"/>
          </a:xfrm>
          <a:prstGeom prst="line">
            <a:avLst/>
          </a:prstGeom>
          <a:ln w="17780">
            <a:solidFill>
              <a:srgbClr val="D9775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8686800" y="4261104"/>
            <a:ext cx="1051560" cy="420624"/>
          </a:xfrm>
          <a:prstGeom prst="roundRect">
            <a:avLst>
              <a:gd name="adj" fmla="val 14000"/>
            </a:avLst>
          </a:prstGeom>
          <a:solidFill>
            <a:srgbClr val="F2EFE7"/>
          </a:solidFill>
          <a:ln w="15875">
            <a:solidFill>
              <a:srgbClr val="E0DA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686800" y="4261104"/>
            <a:ext cx="1051560" cy="420624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950" b="1">
                <a:solidFill>
                  <a:srgbClr val="33312B"/>
                </a:solidFill>
                <a:latin typeface="Apple SD Gothic Neo"/>
              </a:rPr>
              <a:t>서비스 C</a:t>
            </a:r>
          </a:p>
        </p:txBody>
      </p:sp>
      <p:cxnSp>
        <p:nvCxnSpPr>
          <p:cNvPr id="29" name="Connector 28"/>
          <p:cNvCxnSpPr/>
          <p:nvPr/>
        </p:nvCxnSpPr>
        <p:spPr>
          <a:xfrm flipV="1">
            <a:off x="9765792" y="4105656"/>
            <a:ext cx="548640" cy="365760"/>
          </a:xfrm>
          <a:prstGeom prst="line">
            <a:avLst/>
          </a:prstGeom>
          <a:ln w="17780">
            <a:solidFill>
              <a:srgbClr val="D9775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10332720" y="3703320"/>
            <a:ext cx="1371600" cy="822960"/>
          </a:xfrm>
          <a:prstGeom prst="roundRect">
            <a:avLst>
              <a:gd name="adj" fmla="val 16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10332720" y="3703320"/>
            <a:ext cx="1371600" cy="8229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150" b="1">
                <a:solidFill>
                  <a:srgbClr val="FFFFFF"/>
                </a:solidFill>
                <a:latin typeface="Apple SD Gothic Neo"/>
              </a:rPr>
              <a:t>Notification
Hub</a:t>
            </a:r>
          </a:p>
        </p:txBody>
      </p:sp>
      <p:cxnSp>
        <p:nvCxnSpPr>
          <p:cNvPr id="32" name="Connector 31"/>
          <p:cNvCxnSpPr/>
          <p:nvPr/>
        </p:nvCxnSpPr>
        <p:spPr>
          <a:xfrm flipH="1">
            <a:off x="10469880" y="4544568"/>
            <a:ext cx="548640" cy="411480"/>
          </a:xfrm>
          <a:prstGeom prst="line">
            <a:avLst/>
          </a:prstGeom>
          <a:ln w="15240">
            <a:solidFill>
              <a:srgbClr val="D977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10168128" y="4956048"/>
            <a:ext cx="530352" cy="310896"/>
          </a:xfrm>
          <a:prstGeom prst="roundRect">
            <a:avLst>
              <a:gd name="adj" fmla="val 50000"/>
            </a:avLst>
          </a:prstGeom>
          <a:solidFill>
            <a:srgbClr val="F4E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10168128" y="4956048"/>
            <a:ext cx="530352" cy="310896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850" b="1">
                <a:solidFill>
                  <a:srgbClr val="C2613F"/>
                </a:solidFill>
                <a:latin typeface="Apple SD Gothic Neo"/>
              </a:rPr>
              <a:t>Email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11018520" y="4544568"/>
            <a:ext cx="18287" cy="411480"/>
          </a:xfrm>
          <a:prstGeom prst="line">
            <a:avLst/>
          </a:prstGeom>
          <a:ln w="15240">
            <a:solidFill>
              <a:srgbClr val="D977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10735056" y="4956048"/>
            <a:ext cx="530352" cy="310896"/>
          </a:xfrm>
          <a:prstGeom prst="roundRect">
            <a:avLst>
              <a:gd name="adj" fmla="val 50000"/>
            </a:avLst>
          </a:prstGeom>
          <a:solidFill>
            <a:srgbClr val="F4E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10735056" y="4956048"/>
            <a:ext cx="530352" cy="310896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850" b="1">
                <a:solidFill>
                  <a:srgbClr val="C2613F"/>
                </a:solidFill>
                <a:latin typeface="Apple SD Gothic Neo"/>
              </a:rPr>
              <a:t>SMS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11018520" y="4544568"/>
            <a:ext cx="585216" cy="411480"/>
          </a:xfrm>
          <a:prstGeom prst="line">
            <a:avLst/>
          </a:prstGeom>
          <a:ln w="15240">
            <a:solidFill>
              <a:srgbClr val="D977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11301984" y="4956048"/>
            <a:ext cx="530352" cy="310896"/>
          </a:xfrm>
          <a:prstGeom prst="roundRect">
            <a:avLst>
              <a:gd name="adj" fmla="val 50000"/>
            </a:avLst>
          </a:prstGeom>
          <a:solidFill>
            <a:srgbClr val="F4E2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11301984" y="4956048"/>
            <a:ext cx="530352" cy="310896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850" b="1">
                <a:solidFill>
                  <a:srgbClr val="C2613F"/>
                </a:solidFill>
                <a:latin typeface="Apple SD Gothic Neo"/>
              </a:rPr>
              <a:t>Push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551615" y="6446520"/>
            <a:ext cx="365760" cy="2743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1000" b="0">
                <a:solidFill>
                  <a:srgbClr val="6E6A60"/>
                </a:solidFill>
                <a:latin typeface="Apple SD Gothic Neo"/>
              </a:rPr>
              <a:t>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01F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77240" y="1828800"/>
            <a:ext cx="3657600" cy="201168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/>
            <a:r>
              <a:rPr sz="12000" b="1">
                <a:solidFill>
                  <a:srgbClr val="D97757"/>
                </a:solidFill>
                <a:latin typeface="Apple SD Gothic Neo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91840" y="2651760"/>
            <a:ext cx="8229600" cy="109728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Apple SD Gothic Neo"/>
              </a:rPr>
              <a:t>시스템 아키텍처</a:t>
            </a:r>
          </a:p>
        </p:txBody>
      </p:sp>
      <p:sp>
        <p:nvSpPr>
          <p:cNvPr id="5" name="Rectangle 4"/>
          <p:cNvSpPr/>
          <p:nvPr/>
        </p:nvSpPr>
        <p:spPr>
          <a:xfrm>
            <a:off x="3337560" y="3794760"/>
            <a:ext cx="2743200" cy="457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420624"/>
            <a:ext cx="10058400" cy="310896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150" b="1">
                <a:solidFill>
                  <a:srgbClr val="C2613F"/>
                </a:solidFill>
                <a:latin typeface="Apple SD Gothic Neo"/>
              </a:rPr>
              <a:t>02 — 시스템 아키텍처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1155680" cy="56692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2700" b="1">
                <a:solidFill>
                  <a:srgbClr val="33312B"/>
                </a:solidFill>
                <a:latin typeface="Apple SD Gothic Neo"/>
              </a:rPr>
              <a:t>시스템 아키텍처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481328"/>
            <a:ext cx="11064240" cy="841248"/>
          </a:xfrm>
          <a:prstGeom prst="roundRect">
            <a:avLst>
              <a:gd name="adj" fmla="val 10000"/>
            </a:avLst>
          </a:prstGeom>
          <a:solidFill>
            <a:srgbClr val="F2EFE7"/>
          </a:solidFill>
          <a:ln w="12700">
            <a:solidFill>
              <a:srgbClr val="E0DA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66928" y="1481328"/>
            <a:ext cx="91440" cy="8412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41248" y="1481328"/>
            <a:ext cx="10607040" cy="8412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200" b="1">
                <a:solidFill>
                  <a:srgbClr val="C2613F"/>
                </a:solidFill>
                <a:latin typeface="Apple SD Gothic Neo"/>
              </a:rPr>
              <a:t>핵심   </a:t>
            </a:r>
            <a:r>
              <a:rPr sz="1250" b="1">
                <a:solidFill>
                  <a:srgbClr val="33312B"/>
                </a:solidFill>
                <a:latin typeface="Apple SD Gothic Neo"/>
              </a:rPr>
              <a:t>6개 MSA + Clean Architecture(Port &amp; Adapter)로 도메인 로직을 Spring/JPA 같은 인프라에서 완전히 분리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15768"/>
            <a:ext cx="4572000" cy="35661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D97757"/>
                </a:solidFill>
                <a:latin typeface="Apple SD Gothic Neo"/>
              </a:rPr>
              <a:t>▸  </a:t>
            </a:r>
            <a:r>
              <a:rPr sz="1250">
                <a:solidFill>
                  <a:srgbClr val="33312B"/>
                </a:solidFill>
                <a:latin typeface="Apple SD Gothic Neo"/>
              </a:rPr>
              <a:t>6개 서비스: Discovery · Gateway · User · Notification · Delivery · Analytics</a:t>
            </a:r>
          </a:p>
          <a:p>
            <a:pPr>
              <a:lnSpc>
                <a:spcPct val="112000"/>
              </a:lnSpc>
              <a:spcBef>
                <a:spcPts val="1200"/>
              </a:spcBef>
              <a:spcAft>
                <a:spcPts val="0"/>
              </a:spcAft>
            </a:pPr>
            <a:r>
              <a:rPr sz="1250" b="1">
                <a:solidFill>
                  <a:srgbClr val="D97757"/>
                </a:solidFill>
                <a:latin typeface="Apple SD Gothic Neo"/>
              </a:rPr>
              <a:t>▸  </a:t>
            </a:r>
            <a:r>
              <a:rPr sz="1250">
                <a:solidFill>
                  <a:srgbClr val="33312B"/>
                </a:solidFill>
                <a:latin typeface="Apple SD Gothic Neo"/>
              </a:rPr>
              <a:t>의존성 방향: presentation → application → domain (domain은 외부 의존 0)</a:t>
            </a:r>
          </a:p>
          <a:p>
            <a:pPr>
              <a:lnSpc>
                <a:spcPct val="112000"/>
              </a:lnSpc>
              <a:spcBef>
                <a:spcPts val="1200"/>
              </a:spcBef>
              <a:spcAft>
                <a:spcPts val="0"/>
              </a:spcAft>
            </a:pPr>
            <a:r>
              <a:rPr sz="1250" b="1">
                <a:solidFill>
                  <a:srgbClr val="D97757"/>
                </a:solidFill>
                <a:latin typeface="Apple SD Gothic Neo"/>
              </a:rPr>
              <a:t>▸  </a:t>
            </a:r>
            <a:r>
              <a:rPr sz="1250">
                <a:solidFill>
                  <a:srgbClr val="33312B"/>
                </a:solidFill>
                <a:latin typeface="Apple SD Gothic Neo"/>
              </a:rPr>
              <a:t>인프라 교체 시 도메인 변경 없이 어댑터만 교체 → ArchUnit으로 규칙 자동 검증</a:t>
            </a:r>
          </a:p>
          <a:p>
            <a:pPr>
              <a:lnSpc>
                <a:spcPct val="112000"/>
              </a:lnSpc>
              <a:spcBef>
                <a:spcPts val="1200"/>
              </a:spcBef>
              <a:spcAft>
                <a:spcPts val="0"/>
              </a:spcAft>
            </a:pPr>
            <a:r>
              <a:rPr sz="1250" b="1">
                <a:solidFill>
                  <a:srgbClr val="D97757"/>
                </a:solidFill>
                <a:latin typeface="Apple SD Gothic Neo"/>
              </a:rPr>
              <a:t>▸  </a:t>
            </a:r>
            <a:r>
              <a:rPr sz="1250">
                <a:solidFill>
                  <a:srgbClr val="33312B"/>
                </a:solidFill>
                <a:latin typeface="Apple SD Gothic Neo"/>
              </a:rPr>
              <a:t>폴리글랏 저장소: 트랜잭션 MySQL · 통계 MongoDB · 멱등성/카운터 Redis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32120" y="2670048"/>
            <a:ext cx="27432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/>
            <a:r>
              <a:rPr sz="1100" b="1">
                <a:solidFill>
                  <a:srgbClr val="6E6A60"/>
                </a:solidFill>
                <a:latin typeface="Apple SD Gothic Neo"/>
              </a:rPr>
              <a:t>Clean Architecture</a:t>
            </a:r>
          </a:p>
        </p:txBody>
      </p:sp>
      <p:sp>
        <p:nvSpPr>
          <p:cNvPr id="10" name="Oval 9"/>
          <p:cNvSpPr/>
          <p:nvPr/>
        </p:nvSpPr>
        <p:spPr>
          <a:xfrm>
            <a:off x="5532120" y="3127248"/>
            <a:ext cx="2743200" cy="2743200"/>
          </a:xfrm>
          <a:prstGeom prst="ellipse">
            <a:avLst/>
          </a:prstGeom>
          <a:solidFill>
            <a:srgbClr val="EAE6D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5843016" y="3438144"/>
            <a:ext cx="2121408" cy="2121408"/>
          </a:xfrm>
          <a:prstGeom prst="ellipse">
            <a:avLst/>
          </a:prstGeom>
          <a:solidFill>
            <a:srgbClr val="E3E7E3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6153912" y="3749039"/>
            <a:ext cx="1499616" cy="1499616"/>
          </a:xfrm>
          <a:prstGeom prst="ellipse">
            <a:avLst/>
          </a:prstGeom>
          <a:solidFill>
            <a:srgbClr val="F4E2D7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6464808" y="4059935"/>
            <a:ext cx="877824" cy="877824"/>
          </a:xfrm>
          <a:prstGeom prst="ellipse">
            <a:avLst/>
          </a:prstGeom>
          <a:solidFill>
            <a:srgbClr val="D97757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532120" y="3216374"/>
            <a:ext cx="2743200" cy="2743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/>
            <a:r>
              <a:rPr sz="900" b="1" dirty="0">
                <a:solidFill>
                  <a:srgbClr val="33312B"/>
                </a:solidFill>
                <a:latin typeface="Apple SD Gothic Neo"/>
              </a:rPr>
              <a:t>presentation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43016" y="3527270"/>
            <a:ext cx="2121408" cy="2743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/>
            <a:r>
              <a:rPr sz="900" b="1">
                <a:solidFill>
                  <a:srgbClr val="33312B"/>
                </a:solidFill>
                <a:latin typeface="Apple SD Gothic Neo"/>
              </a:rPr>
              <a:t>application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53912" y="3838165"/>
            <a:ext cx="1499616" cy="2743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/>
            <a:r>
              <a:rPr sz="900" b="1">
                <a:solidFill>
                  <a:srgbClr val="C2613F"/>
                </a:solidFill>
                <a:latin typeface="Apple SD Gothic Neo"/>
              </a:rPr>
              <a:t>infrastructure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64808" y="4361688"/>
            <a:ext cx="877824" cy="2743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pple SD Gothic Neo"/>
              </a:rPr>
              <a:t>domain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03920" y="2670048"/>
            <a:ext cx="292608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/>
            <a:r>
              <a:rPr sz="1100" b="1">
                <a:solidFill>
                  <a:srgbClr val="6E6A60"/>
                </a:solidFill>
                <a:latin typeface="Apple SD Gothic Neo"/>
              </a:rPr>
              <a:t>MSA 토폴로지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503920" y="3035808"/>
            <a:ext cx="2926080" cy="457200"/>
          </a:xfrm>
          <a:prstGeom prst="roundRect">
            <a:avLst>
              <a:gd name="adj" fmla="val 14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503920" y="3035808"/>
            <a:ext cx="2926080" cy="45720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Apple SD Gothic Neo"/>
              </a:rPr>
              <a:t>API Gateway  (JWT 인증·라우팅)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503920" y="3675887"/>
            <a:ext cx="1371600" cy="47548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5875">
            <a:solidFill>
              <a:srgbClr val="E0DA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503920" y="3675887"/>
            <a:ext cx="1371600" cy="47548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000" b="1">
                <a:solidFill>
                  <a:srgbClr val="33312B"/>
                </a:solidFill>
                <a:latin typeface="Apple SD Gothic Neo"/>
              </a:rPr>
              <a:t>User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012680" y="3675887"/>
            <a:ext cx="1371600" cy="47548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5875">
            <a:solidFill>
              <a:srgbClr val="E0DA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10012680" y="3675887"/>
            <a:ext cx="1371600" cy="47548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000" b="1">
                <a:solidFill>
                  <a:srgbClr val="33312B"/>
                </a:solidFill>
                <a:latin typeface="Apple SD Gothic Neo"/>
              </a:rPr>
              <a:t>Notification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503920" y="4279392"/>
            <a:ext cx="1371600" cy="47548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5875">
            <a:solidFill>
              <a:srgbClr val="E0DA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503920" y="4279392"/>
            <a:ext cx="1371600" cy="47548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000" b="1">
                <a:solidFill>
                  <a:srgbClr val="33312B"/>
                </a:solidFill>
                <a:latin typeface="Apple SD Gothic Neo"/>
              </a:rPr>
              <a:t>Delivery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012680" y="4279392"/>
            <a:ext cx="1371600" cy="47548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5875">
            <a:solidFill>
              <a:srgbClr val="E0DA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10012680" y="4279392"/>
            <a:ext cx="1371600" cy="47548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000" b="1">
                <a:solidFill>
                  <a:srgbClr val="33312B"/>
                </a:solidFill>
                <a:latin typeface="Apple SD Gothic Neo"/>
              </a:rPr>
              <a:t>Analytics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503920" y="4882896"/>
            <a:ext cx="1371600" cy="47548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5875">
            <a:solidFill>
              <a:srgbClr val="E0DA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503920" y="4882896"/>
            <a:ext cx="1371600" cy="47548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000" b="1">
                <a:solidFill>
                  <a:srgbClr val="33312B"/>
                </a:solidFill>
                <a:latin typeface="Apple SD Gothic Neo"/>
              </a:rPr>
              <a:t>Discovery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012680" y="4882896"/>
            <a:ext cx="1371600" cy="475488"/>
          </a:xfrm>
          <a:prstGeom prst="roundRect">
            <a:avLst>
              <a:gd name="adj" fmla="val 14000"/>
            </a:avLst>
          </a:prstGeom>
          <a:solidFill>
            <a:srgbClr val="F2EFE7"/>
          </a:solidFill>
          <a:ln w="15875">
            <a:solidFill>
              <a:srgbClr val="E0DA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10012680" y="4882896"/>
            <a:ext cx="1371600" cy="47548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000" b="1">
                <a:solidFill>
                  <a:srgbClr val="33312B"/>
                </a:solidFill>
                <a:latin typeface="Apple SD Gothic Neo"/>
              </a:rPr>
              <a:t>(Eureka)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9966960" y="3493008"/>
            <a:ext cx="0" cy="164592"/>
          </a:xfrm>
          <a:prstGeom prst="line">
            <a:avLst/>
          </a:prstGeom>
          <a:ln w="17780">
            <a:solidFill>
              <a:srgbClr val="D9775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11551615" y="6446520"/>
            <a:ext cx="365760" cy="2743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1000" b="0">
                <a:solidFill>
                  <a:srgbClr val="6E6A60"/>
                </a:solidFill>
                <a:latin typeface="Apple SD Gothic Neo"/>
              </a:rPr>
              <a:t>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01F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77240" y="1828800"/>
            <a:ext cx="3657600" cy="201168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/>
            <a:r>
              <a:rPr sz="12000" b="1">
                <a:solidFill>
                  <a:srgbClr val="D97757"/>
                </a:solidFill>
                <a:latin typeface="Apple SD Gothic Neo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91840" y="2651760"/>
            <a:ext cx="8229600" cy="109728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Apple SD Gothic Neo"/>
              </a:rPr>
              <a:t>핵심 플로우 &amp; 신뢰성</a:t>
            </a:r>
          </a:p>
        </p:txBody>
      </p:sp>
      <p:sp>
        <p:nvSpPr>
          <p:cNvPr id="5" name="Rectangle 4"/>
          <p:cNvSpPr/>
          <p:nvPr/>
        </p:nvSpPr>
        <p:spPr>
          <a:xfrm>
            <a:off x="3337560" y="3794760"/>
            <a:ext cx="2743200" cy="457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420624"/>
            <a:ext cx="10058400" cy="310896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150" b="1">
                <a:solidFill>
                  <a:srgbClr val="C2613F"/>
                </a:solidFill>
                <a:latin typeface="Apple SD Gothic Neo"/>
              </a:rPr>
              <a:t>03 — 핵심 플로우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1155680" cy="56692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2700" b="1">
                <a:solidFill>
                  <a:srgbClr val="33312B"/>
                </a:solidFill>
                <a:latin typeface="Apple SD Gothic Neo"/>
              </a:rPr>
              <a:t>핵심 플로우 — 이벤트 드리븐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481328"/>
            <a:ext cx="11064240" cy="841248"/>
          </a:xfrm>
          <a:prstGeom prst="roundRect">
            <a:avLst>
              <a:gd name="adj" fmla="val 10000"/>
            </a:avLst>
          </a:prstGeom>
          <a:solidFill>
            <a:srgbClr val="F2EFE7"/>
          </a:solidFill>
          <a:ln w="12700">
            <a:solidFill>
              <a:srgbClr val="E0DA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66928" y="1481328"/>
            <a:ext cx="91440" cy="8412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41248" y="1481328"/>
            <a:ext cx="10607040" cy="8412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200" b="1">
                <a:solidFill>
                  <a:srgbClr val="C2613F"/>
                </a:solidFill>
                <a:latin typeface="Apple SD Gothic Neo"/>
              </a:rPr>
              <a:t>핵심   </a:t>
            </a:r>
            <a:r>
              <a:rPr sz="1250" b="1">
                <a:solidFill>
                  <a:srgbClr val="33312B"/>
                </a:solidFill>
                <a:latin typeface="Apple SD Gothic Neo"/>
              </a:rPr>
              <a:t>Kafka 기반 비동기 파이프라인으로 '접수 → 발송 → 집계'를 분리해, 발송 지연이 알림 접수 응답을 막지 않도록 설계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122516"/>
            <a:ext cx="1143000" cy="713232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5875">
            <a:solidFill>
              <a:srgbClr val="E0DA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0080" y="3122516"/>
            <a:ext cx="1143000" cy="71323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050" b="1">
                <a:solidFill>
                  <a:srgbClr val="33312B"/>
                </a:solidFill>
                <a:latin typeface="Apple SD Gothic Neo"/>
              </a:rPr>
              <a:t>Client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057400" y="3122516"/>
            <a:ext cx="1234440" cy="713232"/>
          </a:xfrm>
          <a:prstGeom prst="roundRect">
            <a:avLst>
              <a:gd name="adj" fmla="val 14000"/>
            </a:avLst>
          </a:prstGeom>
          <a:solidFill>
            <a:srgbClr val="2C2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057400" y="3122516"/>
            <a:ext cx="1234440" cy="71323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Apple SD Gothic Neo"/>
              </a:rPr>
              <a:t>API
Gateway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11880" y="3122516"/>
            <a:ext cx="1417320" cy="713232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5875">
            <a:solidFill>
              <a:srgbClr val="E0DA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611880" y="3122516"/>
            <a:ext cx="1417320" cy="71323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050" b="1">
                <a:solidFill>
                  <a:srgbClr val="33312B"/>
                </a:solidFill>
                <a:latin typeface="Apple SD Gothic Neo"/>
              </a:rPr>
              <a:t>Notification
접수</a:t>
            </a:r>
          </a:p>
        </p:txBody>
      </p:sp>
      <p:sp>
        <p:nvSpPr>
          <p:cNvPr id="14" name="Can 13"/>
          <p:cNvSpPr/>
          <p:nvPr/>
        </p:nvSpPr>
        <p:spPr>
          <a:xfrm>
            <a:off x="5349240" y="3076796"/>
            <a:ext cx="1280160" cy="804672"/>
          </a:xfrm>
          <a:prstGeom prst="can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349240" y="3122516"/>
            <a:ext cx="1280160" cy="2743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Apple SD Gothic Neo"/>
              </a:rPr>
              <a:t>Kafka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49240" y="3360260"/>
            <a:ext cx="1280160" cy="45720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950" b="1">
                <a:solidFill>
                  <a:srgbClr val="FFFFFF"/>
                </a:solidFill>
                <a:latin typeface="Apple SD Gothic Neo"/>
              </a:rPr>
              <a:t>notifications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95160" y="3122516"/>
            <a:ext cx="1371600" cy="713232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5875">
            <a:solidFill>
              <a:srgbClr val="E0DA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995160" y="3122516"/>
            <a:ext cx="1371600" cy="71323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050" b="1">
                <a:solidFill>
                  <a:srgbClr val="33312B"/>
                </a:solidFill>
                <a:latin typeface="Apple SD Gothic Neo"/>
              </a:rPr>
              <a:t>Delivery
발송</a:t>
            </a:r>
          </a:p>
        </p:txBody>
      </p:sp>
      <p:sp>
        <p:nvSpPr>
          <p:cNvPr id="19" name="Can 18"/>
          <p:cNvSpPr/>
          <p:nvPr/>
        </p:nvSpPr>
        <p:spPr>
          <a:xfrm>
            <a:off x="8686800" y="3076796"/>
            <a:ext cx="1280160" cy="804672"/>
          </a:xfrm>
          <a:prstGeom prst="can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686800" y="3122516"/>
            <a:ext cx="1280160" cy="2743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Apple SD Gothic Neo"/>
              </a:rPr>
              <a:t>Kafka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0" y="3360260"/>
            <a:ext cx="1280160" cy="45720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950" b="1">
                <a:solidFill>
                  <a:srgbClr val="FFFFFF"/>
                </a:solidFill>
                <a:latin typeface="Apple SD Gothic Neo"/>
              </a:rPr>
              <a:t>delivery-results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332720" y="3122516"/>
            <a:ext cx="1325880" cy="713232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5875">
            <a:solidFill>
              <a:srgbClr val="E0DA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0332720" y="3122516"/>
            <a:ext cx="1325880" cy="71323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050" b="1">
                <a:solidFill>
                  <a:srgbClr val="33312B"/>
                </a:solidFill>
                <a:latin typeface="Apple SD Gothic Neo"/>
              </a:rPr>
              <a:t>Analytics
집계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1819656" y="3360260"/>
            <a:ext cx="201168" cy="237744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ight Arrow 24"/>
          <p:cNvSpPr/>
          <p:nvPr/>
        </p:nvSpPr>
        <p:spPr>
          <a:xfrm>
            <a:off x="3328416" y="3360260"/>
            <a:ext cx="246888" cy="237744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ight Arrow 25"/>
          <p:cNvSpPr/>
          <p:nvPr/>
        </p:nvSpPr>
        <p:spPr>
          <a:xfrm>
            <a:off x="5065776" y="3360260"/>
            <a:ext cx="246887" cy="237744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ight Arrow 26"/>
          <p:cNvSpPr/>
          <p:nvPr/>
        </p:nvSpPr>
        <p:spPr>
          <a:xfrm>
            <a:off x="6665976" y="3360260"/>
            <a:ext cx="292608" cy="237744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ight Arrow 27"/>
          <p:cNvSpPr/>
          <p:nvPr/>
        </p:nvSpPr>
        <p:spPr>
          <a:xfrm>
            <a:off x="8403336" y="3360260"/>
            <a:ext cx="246887" cy="237744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ight Arrow 28"/>
          <p:cNvSpPr/>
          <p:nvPr/>
        </p:nvSpPr>
        <p:spPr>
          <a:xfrm>
            <a:off x="10003536" y="3360260"/>
            <a:ext cx="292608" cy="237744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3611880" y="3945476"/>
            <a:ext cx="2194560" cy="2743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950" b="1">
                <a:solidFill>
                  <a:srgbClr val="C2613F"/>
                </a:solidFill>
                <a:latin typeface="Apple SD Gothic Neo"/>
              </a:rPr>
              <a:t>↩ 즉시 PUBLISHED 응답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611880" y="2738468"/>
            <a:ext cx="914400" cy="274320"/>
          </a:xfrm>
          <a:prstGeom prst="roundRect">
            <a:avLst>
              <a:gd name="adj" fmla="val 50000"/>
            </a:avLst>
          </a:prstGeom>
          <a:solidFill>
            <a:srgbClr val="E3E7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3611880" y="2738468"/>
            <a:ext cx="914400" cy="27432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900" b="1">
                <a:solidFill>
                  <a:srgbClr val="5E6B66"/>
                </a:solidFill>
                <a:latin typeface="Apple SD Gothic Neo"/>
              </a:rPr>
              <a:t>MySQL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0332720" y="2738468"/>
            <a:ext cx="1325880" cy="274320"/>
          </a:xfrm>
          <a:prstGeom prst="roundRect">
            <a:avLst>
              <a:gd name="adj" fmla="val 50000"/>
            </a:avLst>
          </a:prstGeom>
          <a:solidFill>
            <a:srgbClr val="E3E7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10332720" y="2738468"/>
            <a:ext cx="1325880" cy="27432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900" b="1">
                <a:solidFill>
                  <a:srgbClr val="5E6B66"/>
                </a:solidFill>
                <a:latin typeface="Apple SD Gothic Neo"/>
              </a:rPr>
              <a:t>MongoDB · Redis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" y="4402676"/>
            <a:ext cx="5394960" cy="11887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D97757"/>
                </a:solidFill>
                <a:latin typeface="Apple SD Gothic Neo"/>
              </a:rPr>
              <a:t>▸  </a:t>
            </a:r>
            <a:r>
              <a:rPr sz="1150">
                <a:solidFill>
                  <a:srgbClr val="33312B"/>
                </a:solidFill>
                <a:latin typeface="Apple SD Gothic Neo"/>
              </a:rPr>
              <a:t>접수: 멱등성 체크 → MySQL 저장 → notifications 발행 → 즉시 응답</a:t>
            </a:r>
          </a:p>
          <a:p>
            <a:pPr>
              <a:lnSpc>
                <a:spcPct val="112000"/>
              </a:lnSpc>
              <a:spcBef>
                <a:spcPts val="900"/>
              </a:spcBef>
              <a:spcAft>
                <a:spcPts val="0"/>
              </a:spcAft>
            </a:pPr>
            <a:r>
              <a:rPr sz="1150" b="1">
                <a:solidFill>
                  <a:srgbClr val="D97757"/>
                </a:solidFill>
                <a:latin typeface="Apple SD Gothic Neo"/>
              </a:rPr>
              <a:t>▸  </a:t>
            </a:r>
            <a:r>
              <a:rPr sz="1150">
                <a:solidFill>
                  <a:srgbClr val="33312B"/>
                </a:solidFill>
                <a:latin typeface="Apple SD Gothic Neo"/>
              </a:rPr>
              <a:t>발송: Kafka 소비 → 채널별 발송 → delivery-results 발행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63640" y="4402676"/>
            <a:ext cx="5394960" cy="11887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D97757"/>
                </a:solidFill>
                <a:latin typeface="Apple SD Gothic Neo"/>
              </a:rPr>
              <a:t>▸  </a:t>
            </a:r>
            <a:r>
              <a:rPr sz="1150">
                <a:solidFill>
                  <a:srgbClr val="33312B"/>
                </a:solidFill>
                <a:latin typeface="Apple SD Gothic Neo"/>
              </a:rPr>
              <a:t>집계: 결과 소비 → MongoDB 일별 통계 + Redis 실시간 카운터</a:t>
            </a:r>
          </a:p>
          <a:p>
            <a:pPr>
              <a:lnSpc>
                <a:spcPct val="112000"/>
              </a:lnSpc>
              <a:spcBef>
                <a:spcPts val="900"/>
              </a:spcBef>
              <a:spcAft>
                <a:spcPts val="0"/>
              </a:spcAft>
            </a:pPr>
            <a:r>
              <a:rPr sz="1150" b="1">
                <a:solidFill>
                  <a:srgbClr val="D97757"/>
                </a:solidFill>
                <a:latin typeface="Apple SD Gothic Neo"/>
              </a:rPr>
              <a:t>▸  </a:t>
            </a:r>
            <a:r>
              <a:rPr sz="1150">
                <a:solidFill>
                  <a:srgbClr val="33312B"/>
                </a:solidFill>
                <a:latin typeface="Apple SD Gothic Neo"/>
              </a:rPr>
              <a:t>각 단계는 토픽으로만 통신 → 독립 배포·확장 가능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551615" y="6446520"/>
            <a:ext cx="365760" cy="2743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1000" b="0">
                <a:solidFill>
                  <a:srgbClr val="6E6A60"/>
                </a:solidFill>
                <a:latin typeface="Apple SD Gothic Neo"/>
              </a:rPr>
              <a:t>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420624"/>
            <a:ext cx="10058400" cy="310896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150" b="1">
                <a:solidFill>
                  <a:srgbClr val="C2613F"/>
                </a:solidFill>
                <a:latin typeface="Apple SD Gothic Neo"/>
              </a:rPr>
              <a:t>04 — 신뢰성 엔지니어링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1155680" cy="56692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2700" b="1">
                <a:solidFill>
                  <a:srgbClr val="33312B"/>
                </a:solidFill>
                <a:latin typeface="Apple SD Gothic Neo"/>
              </a:rPr>
              <a:t>신뢰성 엔지니어링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481328"/>
            <a:ext cx="11064240" cy="841248"/>
          </a:xfrm>
          <a:prstGeom prst="roundRect">
            <a:avLst>
              <a:gd name="adj" fmla="val 10000"/>
            </a:avLst>
          </a:prstGeom>
          <a:solidFill>
            <a:srgbClr val="F2EFE7"/>
          </a:solidFill>
          <a:ln w="12700">
            <a:solidFill>
              <a:srgbClr val="E0DA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66928" y="1481328"/>
            <a:ext cx="91440" cy="8412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41248" y="1481328"/>
            <a:ext cx="10607040" cy="8412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200" b="1">
                <a:solidFill>
                  <a:srgbClr val="C2613F"/>
                </a:solidFill>
                <a:latin typeface="Apple SD Gothic Neo"/>
              </a:rPr>
              <a:t>핵심   </a:t>
            </a:r>
            <a:r>
              <a:rPr sz="1250" b="1">
                <a:solidFill>
                  <a:srgbClr val="33312B"/>
                </a:solidFill>
                <a:latin typeface="Apple SD Gothic Neo"/>
              </a:rPr>
              <a:t>멱등성·Circuit Breaker·재시도/DLQ·원자적 집계로 '메시지 유실 없고 중복 없는' 발송을 보장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15768"/>
            <a:ext cx="4572000" cy="35661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D97757"/>
                </a:solidFill>
                <a:latin typeface="Apple SD Gothic Neo"/>
              </a:rPr>
              <a:t>▸  </a:t>
            </a:r>
            <a:r>
              <a:rPr sz="1250">
                <a:solidFill>
                  <a:srgbClr val="33312B"/>
                </a:solidFill>
                <a:latin typeface="Apple SD Gothic Neo"/>
              </a:rPr>
              <a:t>멱등성 이중 방어: 접수단 Redis 키 + 발송단 notificationId 중복 체크</a:t>
            </a:r>
          </a:p>
          <a:p>
            <a:pPr>
              <a:lnSpc>
                <a:spcPct val="112000"/>
              </a:lnSpc>
              <a:spcBef>
                <a:spcPts val="1200"/>
              </a:spcBef>
              <a:spcAft>
                <a:spcPts val="0"/>
              </a:spcAft>
            </a:pPr>
            <a:r>
              <a:rPr sz="1250" b="1">
                <a:solidFill>
                  <a:srgbClr val="D97757"/>
                </a:solidFill>
                <a:latin typeface="Apple SD Gothic Neo"/>
              </a:rPr>
              <a:t>▸  </a:t>
            </a:r>
            <a:r>
              <a:rPr sz="1250">
                <a:solidFill>
                  <a:srgbClr val="33312B"/>
                </a:solidFill>
                <a:latin typeface="Apple SD Gothic Neo"/>
              </a:rPr>
              <a:t>Kafka 발행 신뢰성: fire-and-forget 대신 동기 확인(.get 5초) + 실패 시 예외 전파</a:t>
            </a:r>
          </a:p>
          <a:p>
            <a:pPr>
              <a:lnSpc>
                <a:spcPct val="112000"/>
              </a:lnSpc>
              <a:spcBef>
                <a:spcPts val="1200"/>
              </a:spcBef>
              <a:spcAft>
                <a:spcPts val="0"/>
              </a:spcAft>
            </a:pPr>
            <a:r>
              <a:rPr sz="1250" b="1">
                <a:solidFill>
                  <a:srgbClr val="D97757"/>
                </a:solidFill>
                <a:latin typeface="Apple SD Gothic Neo"/>
              </a:rPr>
              <a:t>▸  </a:t>
            </a:r>
            <a:r>
              <a:rPr sz="1250">
                <a:solidFill>
                  <a:srgbClr val="33312B"/>
                </a:solidFill>
                <a:latin typeface="Apple SD Gothic Neo"/>
              </a:rPr>
              <a:t>장애 격리: Resilience4j Circuit Breaker(실패율 50% 초과 시 차단)</a:t>
            </a:r>
          </a:p>
          <a:p>
            <a:pPr>
              <a:lnSpc>
                <a:spcPct val="112000"/>
              </a:lnSpc>
              <a:spcBef>
                <a:spcPts val="1200"/>
              </a:spcBef>
              <a:spcAft>
                <a:spcPts val="0"/>
              </a:spcAft>
            </a:pPr>
            <a:r>
              <a:rPr sz="1250" b="1">
                <a:solidFill>
                  <a:srgbClr val="D97757"/>
                </a:solidFill>
                <a:latin typeface="Apple SD Gothic Neo"/>
              </a:rPr>
              <a:t>▸  </a:t>
            </a:r>
            <a:r>
              <a:rPr sz="1250">
                <a:solidFill>
                  <a:srgbClr val="33312B"/>
                </a:solidFill>
                <a:latin typeface="Apple SD Gothic Neo"/>
              </a:rPr>
              <a:t>최종 실패 보존: 3회 재시도 후 DLQ 격리 + $inc·upsert 원자적 집계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32120" y="2761488"/>
            <a:ext cx="59436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100" b="1">
                <a:solidFill>
                  <a:srgbClr val="6E6A60"/>
                </a:solidFill>
                <a:latin typeface="Apple SD Gothic Neo"/>
              </a:rPr>
              <a:t>재시도 → DLQ 격리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532120" y="3145536"/>
            <a:ext cx="1024128" cy="566928"/>
          </a:xfrm>
          <a:prstGeom prst="roundRect">
            <a:avLst>
              <a:gd name="adj" fmla="val 14000"/>
            </a:avLst>
          </a:prstGeom>
          <a:solidFill>
            <a:srgbClr val="F2EF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532120" y="3145536"/>
            <a:ext cx="1024128" cy="56692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000" b="1">
                <a:solidFill>
                  <a:srgbClr val="33312B"/>
                </a:solidFill>
                <a:latin typeface="Apple SD Gothic Neo"/>
              </a:rPr>
              <a:t>발송 실패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6565392" y="3337560"/>
            <a:ext cx="146304" cy="182880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6720840" y="3145536"/>
            <a:ext cx="1024128" cy="56692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5875">
            <a:solidFill>
              <a:srgbClr val="E0DA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720840" y="3145536"/>
            <a:ext cx="1024128" cy="56692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000" b="1">
                <a:solidFill>
                  <a:srgbClr val="33312B"/>
                </a:solidFill>
                <a:latin typeface="Apple SD Gothic Neo"/>
              </a:rPr>
              <a:t>retry 1s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7754111" y="3337560"/>
            <a:ext cx="146304" cy="182880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7909560" y="3145536"/>
            <a:ext cx="1024128" cy="56692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5875">
            <a:solidFill>
              <a:srgbClr val="E0DA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909560" y="3145536"/>
            <a:ext cx="1024128" cy="56692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000" b="1">
                <a:solidFill>
                  <a:srgbClr val="33312B"/>
                </a:solidFill>
                <a:latin typeface="Apple SD Gothic Neo"/>
              </a:rPr>
              <a:t>retry 2s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8942832" y="3337560"/>
            <a:ext cx="146304" cy="182880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9098280" y="3145536"/>
            <a:ext cx="1024128" cy="56692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5875">
            <a:solidFill>
              <a:srgbClr val="E0DA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098280" y="3145536"/>
            <a:ext cx="1024128" cy="56692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000" b="1">
                <a:solidFill>
                  <a:srgbClr val="33312B"/>
                </a:solidFill>
                <a:latin typeface="Apple SD Gothic Neo"/>
              </a:rPr>
              <a:t>retry 4s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10131552" y="3337560"/>
            <a:ext cx="146304" cy="182880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10287000" y="3145536"/>
            <a:ext cx="1024128" cy="566928"/>
          </a:xfrm>
          <a:prstGeom prst="roundRect">
            <a:avLst>
              <a:gd name="adj" fmla="val 14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0287000" y="3145536"/>
            <a:ext cx="1024128" cy="56692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pple SD Gothic Neo"/>
              </a:rPr>
              <a:t>DLQ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32120" y="4178808"/>
            <a:ext cx="59436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100" b="1">
                <a:solidFill>
                  <a:srgbClr val="6E6A60"/>
                </a:solidFill>
                <a:latin typeface="Apple SD Gothic Neo"/>
              </a:rPr>
              <a:t>Circuit Breaker 상태 전이</a:t>
            </a:r>
          </a:p>
        </p:txBody>
      </p:sp>
      <p:sp>
        <p:nvSpPr>
          <p:cNvPr id="25" name="Oval 24"/>
          <p:cNvSpPr/>
          <p:nvPr/>
        </p:nvSpPr>
        <p:spPr>
          <a:xfrm>
            <a:off x="5623559" y="4727448"/>
            <a:ext cx="1234440" cy="1234440"/>
          </a:xfrm>
          <a:prstGeom prst="ellipse">
            <a:avLst/>
          </a:prstGeom>
          <a:solidFill>
            <a:srgbClr val="5E6B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623559" y="4727448"/>
            <a:ext cx="1234440" cy="12344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Apple SD Gothic Neo"/>
              </a:rPr>
              <a:t>CLOSED</a:t>
            </a:r>
          </a:p>
        </p:txBody>
      </p:sp>
      <p:sp>
        <p:nvSpPr>
          <p:cNvPr id="27" name="Oval 26"/>
          <p:cNvSpPr/>
          <p:nvPr/>
        </p:nvSpPr>
        <p:spPr>
          <a:xfrm>
            <a:off x="7863840" y="4727448"/>
            <a:ext cx="1234440" cy="1234440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7863840" y="4727448"/>
            <a:ext cx="1234440" cy="12344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Apple SD Gothic Neo"/>
              </a:rPr>
              <a:t>OPEN</a:t>
            </a:r>
          </a:p>
        </p:txBody>
      </p:sp>
      <p:sp>
        <p:nvSpPr>
          <p:cNvPr id="29" name="Oval 28"/>
          <p:cNvSpPr/>
          <p:nvPr/>
        </p:nvSpPr>
        <p:spPr>
          <a:xfrm>
            <a:off x="10104120" y="4727448"/>
            <a:ext cx="1234440" cy="1234440"/>
          </a:xfrm>
          <a:prstGeom prst="ellipse">
            <a:avLst/>
          </a:prstGeom>
          <a:solidFill>
            <a:srgbClr val="C26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10104120" y="4727448"/>
            <a:ext cx="1234440" cy="12344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Apple SD Gothic Neo"/>
              </a:rPr>
              <a:t>HALF_OPEN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6858000" y="5344668"/>
            <a:ext cx="1005840" cy="0"/>
          </a:xfrm>
          <a:prstGeom prst="line">
            <a:avLst/>
          </a:prstGeom>
          <a:ln w="17780">
            <a:solidFill>
              <a:srgbClr val="3331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6876288" y="5033772"/>
            <a:ext cx="1005840" cy="2743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850" b="0">
                <a:solidFill>
                  <a:srgbClr val="6E6A60"/>
                </a:solidFill>
                <a:latin typeface="Apple SD Gothic Neo"/>
              </a:rPr>
              <a:t>실패율 50%↑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9098280" y="5344668"/>
            <a:ext cx="1005840" cy="0"/>
          </a:xfrm>
          <a:prstGeom prst="line">
            <a:avLst/>
          </a:prstGeom>
          <a:ln w="17780">
            <a:solidFill>
              <a:srgbClr val="3331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9144000" y="5033772"/>
            <a:ext cx="1005840" cy="2743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850" b="0">
                <a:solidFill>
                  <a:srgbClr val="6E6A60"/>
                </a:solidFill>
                <a:latin typeface="Apple SD Gothic Neo"/>
              </a:rPr>
              <a:t>타임아웃 후</a:t>
            </a:r>
          </a:p>
        </p:txBody>
      </p:sp>
      <p:cxnSp>
        <p:nvCxnSpPr>
          <p:cNvPr id="35" name="Connector 34"/>
          <p:cNvCxnSpPr/>
          <p:nvPr/>
        </p:nvCxnSpPr>
        <p:spPr>
          <a:xfrm flipH="1">
            <a:off x="6240779" y="5961888"/>
            <a:ext cx="4480561" cy="0"/>
          </a:xfrm>
          <a:prstGeom prst="line">
            <a:avLst/>
          </a:prstGeom>
          <a:ln w="15240">
            <a:solidFill>
              <a:srgbClr val="5E6B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7680960" y="6007607"/>
            <a:ext cx="1463040" cy="2743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850" b="0">
                <a:solidFill>
                  <a:srgbClr val="5E6B66"/>
                </a:solidFill>
                <a:latin typeface="Apple SD Gothic Neo"/>
              </a:rPr>
              <a:t>성공 시 복구 →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551615" y="6446520"/>
            <a:ext cx="365760" cy="2743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1000" b="0">
                <a:solidFill>
                  <a:srgbClr val="6E6A60"/>
                </a:solidFill>
                <a:latin typeface="Apple SD Gothic Neo"/>
              </a:rPr>
              <a:t>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01F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77240" y="1828800"/>
            <a:ext cx="3657600" cy="201168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/>
            <a:r>
              <a:rPr sz="12000" b="1">
                <a:solidFill>
                  <a:srgbClr val="D97757"/>
                </a:solidFill>
                <a:latin typeface="Apple SD Gothic Neo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91840" y="2651760"/>
            <a:ext cx="8229600" cy="109728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Apple SD Gothic Neo"/>
              </a:rPr>
              <a:t>운영 &amp; 성과</a:t>
            </a:r>
          </a:p>
        </p:txBody>
      </p:sp>
      <p:sp>
        <p:nvSpPr>
          <p:cNvPr id="5" name="Rectangle 4"/>
          <p:cNvSpPr/>
          <p:nvPr/>
        </p:nvSpPr>
        <p:spPr>
          <a:xfrm>
            <a:off x="3337560" y="3794760"/>
            <a:ext cx="2743200" cy="457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420624"/>
            <a:ext cx="10058400" cy="310896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150" b="1">
                <a:solidFill>
                  <a:srgbClr val="C2613F"/>
                </a:solidFill>
                <a:latin typeface="Apple SD Gothic Neo"/>
              </a:rPr>
              <a:t>05 — 운영 &amp; 품질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1155680" cy="56692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2700" b="1">
                <a:solidFill>
                  <a:srgbClr val="33312B"/>
                </a:solidFill>
                <a:latin typeface="Apple SD Gothic Neo"/>
              </a:rPr>
              <a:t>운영 &amp; 품질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481328"/>
            <a:ext cx="11064240" cy="841248"/>
          </a:xfrm>
          <a:prstGeom prst="roundRect">
            <a:avLst>
              <a:gd name="adj" fmla="val 10000"/>
            </a:avLst>
          </a:prstGeom>
          <a:solidFill>
            <a:srgbClr val="F2EFE7"/>
          </a:solidFill>
          <a:ln w="12700">
            <a:solidFill>
              <a:srgbClr val="E0DA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66928" y="1481328"/>
            <a:ext cx="91440" cy="8412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41248" y="1481328"/>
            <a:ext cx="10607040" cy="8412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0000"/>
              </a:lnSpc>
            </a:pPr>
            <a:r>
              <a:rPr sz="1200" b="1">
                <a:solidFill>
                  <a:srgbClr val="C2613F"/>
                </a:solidFill>
                <a:latin typeface="Apple SD Gothic Neo"/>
              </a:rPr>
              <a:t>핵심   </a:t>
            </a:r>
            <a:r>
              <a:rPr sz="1250" b="1">
                <a:solidFill>
                  <a:srgbClr val="33312B"/>
                </a:solidFill>
                <a:latin typeface="Apple SD Gothic Neo"/>
              </a:rPr>
              <a:t>모니터링·컨테이너 오케스트레이션·CI/CD·높은 테스트 커버리지로 '운영 가능한' 수준까지 완성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15768"/>
            <a:ext cx="4937760" cy="35661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D97757"/>
                </a:solidFill>
                <a:latin typeface="Apple SD Gothic Neo"/>
              </a:rPr>
              <a:t>▸  </a:t>
            </a:r>
            <a:r>
              <a:rPr sz="1250">
                <a:solidFill>
                  <a:srgbClr val="33312B"/>
                </a:solidFill>
                <a:latin typeface="Apple SD Gothic Neo"/>
              </a:rPr>
              <a:t>관측성: Prometheus + Grafana(발송량·5xx·Lag) + Zipkin 분산 트레이싱</a:t>
            </a:r>
          </a:p>
          <a:p>
            <a:pPr>
              <a:lnSpc>
                <a:spcPct val="112000"/>
              </a:lnSpc>
              <a:spcBef>
                <a:spcPts val="1200"/>
              </a:spcBef>
              <a:spcAft>
                <a:spcPts val="0"/>
              </a:spcAft>
            </a:pPr>
            <a:r>
              <a:rPr sz="1250" b="1">
                <a:solidFill>
                  <a:srgbClr val="D97757"/>
                </a:solidFill>
                <a:latin typeface="Apple SD Gothic Neo"/>
              </a:rPr>
              <a:t>▸  </a:t>
            </a:r>
            <a:r>
              <a:rPr sz="1250">
                <a:solidFill>
                  <a:srgbClr val="33312B"/>
                </a:solidFill>
                <a:latin typeface="Apple SD Gothic Neo"/>
              </a:rPr>
              <a:t>배포: Docker Compose(로컬) · Kubernetes(HPA 2~10 Pod) · Terraform IaC</a:t>
            </a:r>
          </a:p>
          <a:p>
            <a:pPr>
              <a:lnSpc>
                <a:spcPct val="112000"/>
              </a:lnSpc>
              <a:spcBef>
                <a:spcPts val="1200"/>
              </a:spcBef>
              <a:spcAft>
                <a:spcPts val="0"/>
              </a:spcAft>
            </a:pPr>
            <a:r>
              <a:rPr sz="1250" b="1">
                <a:solidFill>
                  <a:srgbClr val="D97757"/>
                </a:solidFill>
                <a:latin typeface="Apple SD Gothic Neo"/>
              </a:rPr>
              <a:t>▸  </a:t>
            </a:r>
            <a:r>
              <a:rPr sz="1250">
                <a:solidFill>
                  <a:srgbClr val="33312B"/>
                </a:solidFill>
                <a:latin typeface="Apple SD Gothic Neo"/>
              </a:rPr>
              <a:t>CI/CD: GitHub Actions 전체 테스트 + 7개 서비스 Docker 이미지 매트릭스 빌드</a:t>
            </a:r>
          </a:p>
          <a:p>
            <a:pPr>
              <a:lnSpc>
                <a:spcPct val="112000"/>
              </a:lnSpc>
              <a:spcBef>
                <a:spcPts val="1200"/>
              </a:spcBef>
              <a:spcAft>
                <a:spcPts val="0"/>
              </a:spcAft>
            </a:pPr>
            <a:r>
              <a:rPr sz="1250" b="1">
                <a:solidFill>
                  <a:srgbClr val="D97757"/>
                </a:solidFill>
                <a:latin typeface="Apple SD Gothic Neo"/>
              </a:rPr>
              <a:t>▸  </a:t>
            </a:r>
            <a:r>
              <a:rPr sz="1250">
                <a:solidFill>
                  <a:srgbClr val="33312B"/>
                </a:solidFill>
                <a:latin typeface="Apple SD Gothic Neo"/>
              </a:rPr>
              <a:t>테스트: 도메인+애플리케이션 계층 커버리지 83.5% ~ 94.7%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0" y="2624327"/>
            <a:ext cx="5760720" cy="310896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/>
            <a:r>
              <a:rPr sz="1200" b="1">
                <a:solidFill>
                  <a:srgbClr val="33312B"/>
                </a:solidFill>
                <a:latin typeface="Apple SD Gothic Neo"/>
              </a:rPr>
              <a:t>계층별 테스트 커버리지 (%)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5852160" y="2990087"/>
          <a:ext cx="5760720" cy="30175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11551615" y="6446520"/>
            <a:ext cx="365760" cy="2743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1000" b="0">
                <a:solidFill>
                  <a:srgbClr val="6E6A60"/>
                </a:solidFill>
                <a:latin typeface="Apple SD Gothic Neo"/>
              </a:rPr>
              <a:t>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01F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548640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300" b="1">
                <a:solidFill>
                  <a:srgbClr val="D97757"/>
                </a:solidFill>
                <a:latin typeface="Apple SD Gothic Neo"/>
              </a:rPr>
              <a:t>SO WHAT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960120"/>
            <a:ext cx="10058400" cy="7315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Apple SD Gothic Neo"/>
              </a:rPr>
              <a:t>성과 요약 &amp; 배운 점</a:t>
            </a:r>
          </a:p>
        </p:txBody>
      </p:sp>
      <p:sp>
        <p:nvSpPr>
          <p:cNvPr id="5" name="Oval 4"/>
          <p:cNvSpPr/>
          <p:nvPr/>
        </p:nvSpPr>
        <p:spPr>
          <a:xfrm>
            <a:off x="658368" y="2157984"/>
            <a:ext cx="310896" cy="310896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58368" y="2139696"/>
            <a:ext cx="310896" cy="310896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pple SD Gothic Neo"/>
              </a:rPr>
              <a:t>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2103120"/>
            <a:ext cx="1828800" cy="41148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/>
            <a:r>
              <a:rPr sz="1500" b="1">
                <a:solidFill>
                  <a:srgbClr val="D97757"/>
                </a:solidFill>
                <a:latin typeface="Apple SD Gothic Neo"/>
              </a:rPr>
              <a:t>성과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0" y="2075688"/>
            <a:ext cx="8778240" cy="50292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/>
            <a:r>
              <a:rPr sz="1350" b="0">
                <a:solidFill>
                  <a:srgbClr val="E6E2D8"/>
                </a:solidFill>
                <a:latin typeface="Apple SD Gothic Neo"/>
              </a:rPr>
              <a:t>Clean Architecture + Event-Driven MSA로 확장·교체·테스트가 용이한 알림 플랫폼 설계·구현</a:t>
            </a:r>
          </a:p>
        </p:txBody>
      </p:sp>
      <p:sp>
        <p:nvSpPr>
          <p:cNvPr id="9" name="Oval 8"/>
          <p:cNvSpPr/>
          <p:nvPr/>
        </p:nvSpPr>
        <p:spPr>
          <a:xfrm>
            <a:off x="658368" y="2999232"/>
            <a:ext cx="310896" cy="310896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58368" y="2980944"/>
            <a:ext cx="310896" cy="310896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pple SD Gothic Neo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2944368"/>
            <a:ext cx="1828800" cy="41148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/>
            <a:r>
              <a:rPr sz="1500" b="1">
                <a:solidFill>
                  <a:srgbClr val="D97757"/>
                </a:solidFill>
                <a:latin typeface="Apple SD Gothic Neo"/>
              </a:rPr>
              <a:t>기술 학습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0" y="2916936"/>
            <a:ext cx="8778240" cy="50292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/>
            <a:r>
              <a:rPr sz="1350" b="0">
                <a:solidFill>
                  <a:srgbClr val="E6E2D8"/>
                </a:solidFill>
                <a:latin typeface="Apple SD Gothic Neo"/>
              </a:rPr>
              <a:t>분산 환경의 멱등성/재시도/DLQ, Circuit Breaker, 원자적 집계로 신뢰성 확보</a:t>
            </a:r>
          </a:p>
        </p:txBody>
      </p:sp>
      <p:sp>
        <p:nvSpPr>
          <p:cNvPr id="13" name="Oval 12"/>
          <p:cNvSpPr/>
          <p:nvPr/>
        </p:nvSpPr>
        <p:spPr>
          <a:xfrm>
            <a:off x="658368" y="3840479"/>
            <a:ext cx="310896" cy="310896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58368" y="3822191"/>
            <a:ext cx="310896" cy="310896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pple SD Gothic Neo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20" y="3785615"/>
            <a:ext cx="1828800" cy="41148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/>
            <a:r>
              <a:rPr sz="1500" b="1">
                <a:solidFill>
                  <a:srgbClr val="D97757"/>
                </a:solidFill>
                <a:latin typeface="Apple SD Gothic Neo"/>
              </a:rPr>
              <a:t>운영 학습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0" y="3758183"/>
            <a:ext cx="8778240" cy="50292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/>
            <a:r>
              <a:rPr sz="1350" b="0">
                <a:solidFill>
                  <a:srgbClr val="E6E2D8"/>
                </a:solidFill>
                <a:latin typeface="Apple SD Gothic Neo"/>
              </a:rPr>
              <a:t>관측성(Prometheus/Zipkin)과 오케스트레이션(K8s/HPA)으로 운영 관점까지 경험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4681728"/>
            <a:ext cx="310896" cy="310896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58368" y="4663440"/>
            <a:ext cx="310896" cy="310896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pple SD Gothic Neo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20" y="4626864"/>
            <a:ext cx="1828800" cy="41148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/>
            <a:r>
              <a:rPr sz="1500" b="1">
                <a:solidFill>
                  <a:srgbClr val="D97757"/>
                </a:solidFill>
                <a:latin typeface="Apple SD Gothic Neo"/>
              </a:rPr>
              <a:t>개선 방향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43200" y="4599432"/>
            <a:ext cx="8778240" cy="50292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/>
            <a:r>
              <a:rPr sz="1350" b="0">
                <a:solidFill>
                  <a:srgbClr val="E6E2D8"/>
                </a:solidFill>
                <a:latin typeface="Apple SD Gothic Neo"/>
              </a:rPr>
              <a:t>실제 채널(SendGrid/Twilio/FCM) 연동, Outbox 패턴 도입, E2E 자동화 확대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5806440"/>
            <a:ext cx="10927080" cy="566928"/>
          </a:xfrm>
          <a:prstGeom prst="roundRect">
            <a:avLst>
              <a:gd name="adj" fmla="val 20000"/>
            </a:avLst>
          </a:prstGeom>
          <a:solidFill>
            <a:srgbClr val="2C2A24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22960" y="5806440"/>
            <a:ext cx="10607040" cy="56692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/>
            <a:r>
              <a:rPr sz="1250" b="1">
                <a:solidFill>
                  <a:srgbClr val="ECE8DE"/>
                </a:solidFill>
                <a:latin typeface="Apple SD Gothic Neo"/>
              </a:rPr>
              <a:t>GitHub 저장소와 설계 문서(README · kafka-redis.md)로 코드와 의사결정 과정을 확인하실 수 있습니다.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01F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272887" y="1783080"/>
            <a:ext cx="1645920" cy="1645920"/>
          </a:xfrm>
          <a:prstGeom prst="roundRect">
            <a:avLst>
              <a:gd name="adj" fmla="val 3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272887" y="1737360"/>
            <a:ext cx="1645920" cy="164592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8000" b="1">
                <a:solidFill>
                  <a:srgbClr val="FFFFFF"/>
                </a:solidFill>
                <a:latin typeface="Apple SD Gothic Neo"/>
              </a:rPr>
              <a:t>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611880"/>
            <a:ext cx="12191695" cy="9144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/>
            <a:r>
              <a:rPr sz="4600" b="1">
                <a:solidFill>
                  <a:srgbClr val="FFFFFF"/>
                </a:solidFill>
                <a:latin typeface="Apple SD Gothic Neo"/>
              </a:rPr>
              <a:t>Q &amp; 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72000"/>
            <a:ext cx="12191695" cy="5486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/>
            <a:r>
              <a:rPr sz="2000" b="0">
                <a:solidFill>
                  <a:srgbClr val="CBC6BA"/>
                </a:solidFill>
                <a:latin typeface="Apple SD Gothic Neo"/>
              </a:rPr>
              <a:t>감사합니다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5166360"/>
            <a:ext cx="12191695" cy="4572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/>
            <a:r>
              <a:rPr sz="1400" b="0">
                <a:solidFill>
                  <a:srgbClr val="6E6A60"/>
                </a:solidFill>
                <a:latin typeface="Apple SD Gothic Neo"/>
              </a:rPr>
              <a:t>이설 · rrksns@nate.com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</TotalTime>
  <Words>969</Words>
  <Application>Microsoft Macintosh PowerPoint</Application>
  <PresentationFormat>와이드스크린</PresentationFormat>
  <Paragraphs>148</Paragraphs>
  <Slides>13</Slides>
  <Notes>5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13</vt:i4>
      </vt:variant>
    </vt:vector>
  </HeadingPairs>
  <TitlesOfParts>
    <vt:vector size="18" baseType="lpstr">
      <vt:lpstr>맑은 고딕</vt:lpstr>
      <vt:lpstr>Apple SD Gothic Neo</vt:lpstr>
      <vt:lpstr>Arial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subject/>
  <dc:creator/>
  <cp:keywords/>
  <dc:description>generated using python-pptx</dc:description>
  <cp:lastModifiedBy>Microsoft Office User</cp:lastModifiedBy>
  <cp:revision>2</cp:revision>
  <dcterms:created xsi:type="dcterms:W3CDTF">2013-01-27T09:14:16Z</dcterms:created>
  <dcterms:modified xsi:type="dcterms:W3CDTF">2026-06-05T05:57:55Z</dcterms:modified>
  <cp:category/>
</cp:coreProperties>
</file>