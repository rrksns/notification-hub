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커버리지</c:v>
                </c:pt>
              </c:strCache>
            </c:strRef>
          </c:tx>
          <c:spPr>
            <a:solidFill>
              <a:srgbClr val="D97757"/>
            </a:solidFill>
          </c:spPr>
          <c:cat>
            <c:strRef>
              <c:f>Sheet1!$A$2:$A$5</c:f>
              <c:strCache>
                <c:ptCount val="4"/>
                <c:pt idx="0">
                  <c:v>user</c:v>
                </c:pt>
                <c:pt idx="1">
                  <c:v>notification</c:v>
                </c:pt>
                <c:pt idx="2">
                  <c:v>delivery</c:v>
                </c:pt>
                <c:pt idx="3">
                  <c:v>analytics</c:v>
                </c:pt>
              </c:strCache>
            </c:strRef>
          </c:cat>
          <c:val>
            <c:numRef>
              <c:f>Sheet1!$B$2:$B$5</c:f>
              <c:numCache>
                <c:formatCode>General</c:formatCode>
                <c:ptCount val="4"/>
                <c:pt idx="0">
                  <c:v>90.0</c:v>
                </c:pt>
                <c:pt idx="1">
                  <c:v>83.5</c:v>
                </c:pt>
                <c:pt idx="2">
                  <c:v>93.4</c:v>
                </c:pt>
                <c:pt idx="3">
                  <c:v>94.7</c:v>
                </c:pt>
              </c:numCache>
            </c:numRef>
          </c:val>
        </c:ser>
        <c:dLbls>
          <c:numFmt formatCode="0.0" sourceLinked="0"/>
          <c:txPr>
            <a:bodyPr/>
            <a:lstStyle/>
            <a:p>
              <a:pPr>
                <a:defRPr sz="1100" b="1">
                  <a:solidFill>
                    <a:srgbClr val="201F1B"/>
                  </a:solidFill>
                  <a:latin typeface="Apple SD Gothic Neo"/>
                </a:defRPr>
              </a:pPr>
            </a:p>
          </c:txPr>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E0DACC"/>
            </a:solidFill>
          </a:ln>
        </c:spPr>
        <c:txPr>
          <a:bodyPr/>
          <a:lstStyle/>
          <a:p>
            <a:pPr>
              <a:defRPr sz="1000">
                <a:solidFill>
                  <a:srgbClr val="33312B"/>
                </a:solidFill>
                <a:latin typeface="Apple SD Gothic Neo"/>
              </a:defRPr>
            </a:pPr>
          </a:p>
        </c:txPr>
        <c:crossAx val="-2113994440"/>
        <c:crosses val="autoZero"/>
        <c:auto val="1"/>
        <c:lblAlgn val="ctr"/>
        <c:lblOffset val="100"/>
        <c:noMultiLvlLbl val="0"/>
      </c:catAx>
      <c:valAx>
        <c:axId val="-2113994440"/>
        <c:scaling>
          <c:max val="100.0"/>
          <c:min val="0.0"/>
        </c:scaling>
        <c:delete val="0"/>
        <c:axPos val="l"/>
        <c:majorGridlines>
          <c:spPr>
            <a:ln w="6350">
              <a:solidFill>
                <a:srgbClr val="E0DACC"/>
              </a:solidFill>
            </a:ln>
          </c:spPr>
        </c:majorGridlines>
        <c:majorTickMark val="out"/>
        <c:minorTickMark val="none"/>
        <c:tickLblPos val="nextTo"/>
        <c:spPr>
          <a:ln>
            <a:solidFill>
              <a:srgbClr val="E0DACC"/>
            </a:solidFill>
          </a:ln>
        </c:spPr>
        <c:txPr>
          <a:bodyPr/>
          <a:lstStyle/>
          <a:p>
            <a:pPr>
              <a:defRPr sz="900">
                <a:solidFill>
                  <a:srgbClr val="6E6A60"/>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도입부에서 '왜 만들었는가'를 공감시키는 슬라이드입니다. 알림은 거의 모든 서비스가 필요로 하지만 재시도·통계·멀티채널을 제대로 구현하려면 부담이 큽니다. SendGrid EMAIL과 Android FCM은 실제 발송까지 검증했고, Twilio 실제 발송과 iOS APNs 연동은 후속 범위로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'왜 Clean Architecture인가'입니다. 도메인이 프레임워크를 모르기 때문에 인프라 없이 단위 테스트가 쉽고 기술 교체에 강합니다. ArchUnit으로 'domain이 infrastructure를 import하면 빌드 실패'하도록 강제해 설계가 시간이 지나도 무너지지 않게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접수와 발송 결과를 각각 Outbox에 같은 DB 트랜잭션으로 저장합니다. dispatcher가 pending 행을 Kafka로 재발행하므로 Kafka 발행 실패가 provider 발송 재시도로 이어지지 않습니다. 이 구조는 at-least-once를 전제로 downstream 멱등성을 함께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기술 면접관이 가장 주목할 부분입니다. notification Outbox와 delivery-result Outbox가 DB 저장과 이벤트 발행 사이의 간격을 줄입니다. Redis 멱등성, delivery_logs의 notification_id unique 제약, 재시도·DLQ, Circuit Breaker가 함께 중복과 장애 전파를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근거는 Outbox backlog·발행 실패 메트릭, 정적 및 live release gate, 격리 Compose 복구 리허설입니다. backup은 6초, clean restore는 17초였고, production smoke와 rollback 증적은 아직 별도 운영 과제입니다.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868680"/>
            <a:ext cx="603504" cy="603504"/>
          </a:xfrm>
          <a:prstGeom prst="roundRect">
            <a:avLst>
              <a:gd name="adj" fmla="val 2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603504" cy="603504"/>
          </a:xfrm>
          <a:prstGeom prst="rect">
            <a:avLst/>
          </a:prstGeom>
          <a:noFill/>
        </p:spPr>
        <p:txBody>
          <a:bodyPr wrap="square" anchor="ctr" lIns="25400" rIns="25400" tIns="12700" bIns="12700">
            <a:spAutoFit/>
          </a:bodyPr>
          <a:lstStyle/>
          <a:p>
            <a:pPr algn="ctr"/>
            <a:r>
              <a:rPr sz="2600" b="1">
                <a:solidFill>
                  <a:srgbClr val="FFFFFF"/>
                </a:solidFill>
                <a:latin typeface="Apple SD Gothic Neo"/>
              </a:rPr>
              <a:t>N</a:t>
            </a:r>
          </a:p>
        </p:txBody>
      </p:sp>
      <p:sp>
        <p:nvSpPr>
          <p:cNvPr id="5" name="TextBox 4"/>
          <p:cNvSpPr txBox="1"/>
          <p:nvPr/>
        </p:nvSpPr>
        <p:spPr>
          <a:xfrm>
            <a:off x="841248" y="2331720"/>
            <a:ext cx="8229600" cy="365760"/>
          </a:xfrm>
          <a:prstGeom prst="rect">
            <a:avLst/>
          </a:prstGeom>
          <a:noFill/>
        </p:spPr>
        <p:txBody>
          <a:bodyPr wrap="square" anchor="t" lIns="25400" rIns="25400" tIns="12700" bIns="12700">
            <a:spAutoFit/>
          </a:bodyPr>
          <a:lstStyle/>
          <a:p>
            <a:pPr algn="l"/>
            <a:r>
              <a:rPr sz="1300" b="1">
                <a:solidFill>
                  <a:srgbClr val="C2613F"/>
                </a:solidFill>
                <a:latin typeface="Apple SD Gothic Neo"/>
              </a:rPr>
              <a:t>B2B SaaS · EVENT-DRIVEN MSA</a:t>
            </a:r>
          </a:p>
        </p:txBody>
      </p:sp>
      <p:sp>
        <p:nvSpPr>
          <p:cNvPr id="6" name="TextBox 5"/>
          <p:cNvSpPr txBox="1"/>
          <p:nvPr/>
        </p:nvSpPr>
        <p:spPr>
          <a:xfrm>
            <a:off x="786384" y="2697480"/>
            <a:ext cx="10058400" cy="1097280"/>
          </a:xfrm>
          <a:prstGeom prst="rect">
            <a:avLst/>
          </a:prstGeom>
          <a:noFill/>
        </p:spPr>
        <p:txBody>
          <a:bodyPr wrap="square" anchor="t" lIns="25400" rIns="25400" tIns="12700" bIns="12700">
            <a:spAutoFit/>
          </a:bodyPr>
          <a:lstStyle/>
          <a:p>
            <a:pPr algn="l"/>
            <a:r>
              <a:rPr sz="5800" b="1">
                <a:solidFill>
                  <a:srgbClr val="33312B"/>
                </a:solidFill>
                <a:latin typeface="Apple SD Gothic Neo"/>
              </a:rPr>
              <a:t>Notification Hub</a:t>
            </a:r>
          </a:p>
        </p:txBody>
      </p:sp>
      <p:sp>
        <p:nvSpPr>
          <p:cNvPr id="7" name="TextBox 6"/>
          <p:cNvSpPr txBox="1"/>
          <p:nvPr/>
        </p:nvSpPr>
        <p:spPr>
          <a:xfrm>
            <a:off x="841248" y="3950208"/>
            <a:ext cx="9601200" cy="548640"/>
          </a:xfrm>
          <a:prstGeom prst="rect">
            <a:avLst/>
          </a:prstGeom>
          <a:noFill/>
        </p:spPr>
        <p:txBody>
          <a:bodyPr wrap="square" anchor="t" lIns="25400" rIns="25400" tIns="12700" bIns="12700">
            <a:spAutoFit/>
          </a:bodyPr>
          <a:lstStyle/>
          <a:p>
            <a:pPr algn="l"/>
            <a:r>
              <a:rPr sz="1700" b="0">
                <a:solidFill>
                  <a:srgbClr val="6E6A60"/>
                </a:solidFill>
                <a:latin typeface="Apple SD Gothic Neo"/>
              </a:rPr>
              <a:t>멀티테넌트 알림 발송 플랫폼 · Clean Architecture 기반 Event-Driven MSA</a:t>
            </a:r>
          </a:p>
        </p:txBody>
      </p:sp>
      <p:sp>
        <p:nvSpPr>
          <p:cNvPr id="8" name="Rectangle 7"/>
          <p:cNvSpPr/>
          <p:nvPr/>
        </p:nvSpPr>
        <p:spPr>
          <a:xfrm>
            <a:off x="841248" y="4617720"/>
            <a:ext cx="2377440" cy="411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5989320"/>
            <a:ext cx="7315200" cy="365760"/>
          </a:xfrm>
          <a:prstGeom prst="rect">
            <a:avLst/>
          </a:prstGeom>
          <a:noFill/>
        </p:spPr>
        <p:txBody>
          <a:bodyPr wrap="square" anchor="t" lIns="25400" rIns="25400" tIns="12700" bIns="12700">
            <a:spAutoFit/>
          </a:bodyPr>
          <a:lstStyle/>
          <a:p>
            <a:pPr algn="l"/>
            <a:r>
              <a:rPr sz="1300" b="0">
                <a:solidFill>
                  <a:srgbClr val="33312B"/>
                </a:solidFill>
                <a:latin typeface="Apple SD Gothic Neo"/>
              </a:rPr>
              <a:t>이설      |      2026-10-05</a:t>
            </a:r>
          </a:p>
        </p:txBody>
      </p:sp>
      <p:sp>
        <p:nvSpPr>
          <p:cNvPr id="10" name="Rounded Rectangle 9"/>
          <p:cNvSpPr/>
          <p:nvPr/>
        </p:nvSpPr>
        <p:spPr>
          <a:xfrm>
            <a:off x="8869680" y="1371600"/>
            <a:ext cx="2468880" cy="1371600"/>
          </a:xfrm>
          <a:prstGeom prst="roundRect">
            <a:avLst>
              <a:gd name="adj" fmla="val 10000"/>
            </a:avLst>
          </a:prstGeom>
          <a:solidFill>
            <a:srgbClr val="EAE6DA"/>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25711" y="1874519"/>
            <a:ext cx="2468880" cy="1371600"/>
          </a:xfrm>
          <a:prstGeom prst="roundRect">
            <a:avLst>
              <a:gd name="adj" fmla="val 10000"/>
            </a:avLst>
          </a:prstGeom>
          <a:solidFill>
            <a:srgbClr val="F2EFE7"/>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381744" y="2377440"/>
            <a:ext cx="2468880" cy="1371600"/>
          </a:xfrm>
          <a:prstGeom prst="roundRect">
            <a:avLst>
              <a:gd name="adj" fmla="val 10000"/>
            </a:avLst>
          </a:prstGeom>
          <a:solidFill>
            <a:srgbClr val="F4E2D7"/>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89720" y="1572768"/>
            <a:ext cx="1828800" cy="365760"/>
          </a:xfrm>
          <a:prstGeom prst="rect">
            <a:avLst/>
          </a:prstGeom>
          <a:noFill/>
        </p:spPr>
        <p:txBody>
          <a:bodyPr wrap="square" anchor="t" lIns="25400" rIns="25400" tIns="12700" bIns="12700">
            <a:spAutoFit/>
          </a:bodyPr>
          <a:lstStyle/>
          <a:p>
            <a:pPr algn="l"/>
            <a:r>
              <a:rPr sz="1200" b="1">
                <a:solidFill>
                  <a:srgbClr val="6E6A60"/>
                </a:solidFill>
                <a:latin typeface="Apple SD Gothic Neo"/>
              </a:rPr>
              <a:t>Email</a:t>
            </a:r>
          </a:p>
        </p:txBody>
      </p:sp>
      <p:sp>
        <p:nvSpPr>
          <p:cNvPr id="14" name="TextBox 13"/>
          <p:cNvSpPr txBox="1"/>
          <p:nvPr/>
        </p:nvSpPr>
        <p:spPr>
          <a:xfrm>
            <a:off x="9445752" y="2075688"/>
            <a:ext cx="1828800" cy="365760"/>
          </a:xfrm>
          <a:prstGeom prst="rect">
            <a:avLst/>
          </a:prstGeom>
          <a:noFill/>
        </p:spPr>
        <p:txBody>
          <a:bodyPr wrap="square" anchor="t" lIns="25400" rIns="25400" tIns="12700" bIns="12700">
            <a:spAutoFit/>
          </a:bodyPr>
          <a:lstStyle/>
          <a:p>
            <a:pPr algn="l"/>
            <a:r>
              <a:rPr sz="1200" b="1">
                <a:solidFill>
                  <a:srgbClr val="6E6A60"/>
                </a:solidFill>
                <a:latin typeface="Apple SD Gothic Neo"/>
              </a:rPr>
              <a:t>SMS</a:t>
            </a:r>
          </a:p>
        </p:txBody>
      </p:sp>
      <p:sp>
        <p:nvSpPr>
          <p:cNvPr id="15" name="TextBox 14"/>
          <p:cNvSpPr txBox="1"/>
          <p:nvPr/>
        </p:nvSpPr>
        <p:spPr>
          <a:xfrm>
            <a:off x="9701784" y="2578608"/>
            <a:ext cx="1828800" cy="365760"/>
          </a:xfrm>
          <a:prstGeom prst="rect">
            <a:avLst/>
          </a:prstGeom>
          <a:noFill/>
        </p:spPr>
        <p:txBody>
          <a:bodyPr wrap="square" anchor="t" lIns="25400" rIns="25400" tIns="12700" bIns="12700">
            <a:spAutoFit/>
          </a:bodyPr>
          <a:lstStyle/>
          <a:p>
            <a:pPr algn="l"/>
            <a:r>
              <a:rPr sz="1200" b="1">
                <a:solidFill>
                  <a:srgbClr val="C2613F"/>
                </a:solidFill>
                <a:latin typeface="Apple SD Gothic Neo"/>
              </a:rPr>
              <a:t>Push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40080"/>
            <a:ext cx="5486400" cy="365760"/>
          </a:xfrm>
          <a:prstGeom prst="rect">
            <a:avLst/>
          </a:prstGeom>
          <a:noFill/>
        </p:spPr>
        <p:txBody>
          <a:bodyPr wrap="square" anchor="t" lIns="25400" rIns="25400" tIns="12700" bIns="12700">
            <a:spAutoFit/>
          </a:bodyPr>
          <a:lstStyle/>
          <a:p>
            <a:pPr algn="l"/>
            <a:r>
              <a:rPr sz="1300" b="1">
                <a:solidFill>
                  <a:srgbClr val="C2613F"/>
                </a:solidFill>
                <a:latin typeface="Apple SD Gothic Neo"/>
              </a:rPr>
              <a:t>AGENDA</a:t>
            </a:r>
          </a:p>
        </p:txBody>
      </p:sp>
      <p:sp>
        <p:nvSpPr>
          <p:cNvPr id="4" name="TextBox 3"/>
          <p:cNvSpPr txBox="1"/>
          <p:nvPr/>
        </p:nvSpPr>
        <p:spPr>
          <a:xfrm>
            <a:off x="548640" y="960120"/>
            <a:ext cx="5486400" cy="731520"/>
          </a:xfrm>
          <a:prstGeom prst="rect">
            <a:avLst/>
          </a:prstGeom>
          <a:noFill/>
        </p:spPr>
        <p:txBody>
          <a:bodyPr wrap="square" anchor="t" lIns="25400" rIns="25400" tIns="12700" bIns="12700">
            <a:spAutoFit/>
          </a:bodyPr>
          <a:lstStyle/>
          <a:p>
            <a:pPr algn="l"/>
            <a:r>
              <a:rPr sz="3400" b="1">
                <a:solidFill>
                  <a:srgbClr val="33312B"/>
                </a:solidFill>
                <a:latin typeface="Apple SD Gothic Neo"/>
              </a:rPr>
              <a:t>목차</a:t>
            </a:r>
          </a:p>
        </p:txBody>
      </p:sp>
      <p:sp>
        <p:nvSpPr>
          <p:cNvPr id="5" name="Rounded Rectangle 4"/>
          <p:cNvSpPr/>
          <p:nvPr/>
        </p:nvSpPr>
        <p:spPr>
          <a:xfrm>
            <a:off x="841248" y="2057400"/>
            <a:ext cx="512064" cy="512064"/>
          </a:xfrm>
          <a:prstGeom prst="roundRect">
            <a:avLst>
              <a:gd name="adj" fmla="val 22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57400"/>
            <a:ext cx="512064" cy="512064"/>
          </a:xfrm>
          <a:prstGeom prst="rect">
            <a:avLst/>
          </a:prstGeom>
          <a:noFill/>
        </p:spPr>
        <p:txBody>
          <a:bodyPr wrap="square" anchor="ctr" lIns="25400" rIns="25400" tIns="12700" bIns="12700">
            <a:spAutoFit/>
          </a:bodyPr>
          <a:lstStyle/>
          <a:p>
            <a:pPr algn="ctr"/>
            <a:r>
              <a:rPr sz="1800" b="1">
                <a:solidFill>
                  <a:srgbClr val="FFFFFF"/>
                </a:solidFill>
                <a:latin typeface="Apple SD Gothic Neo"/>
              </a:rPr>
              <a:t>1</a:t>
            </a:r>
          </a:p>
        </p:txBody>
      </p:sp>
      <p:sp>
        <p:nvSpPr>
          <p:cNvPr id="7" name="TextBox 6"/>
          <p:cNvSpPr txBox="1"/>
          <p:nvPr/>
        </p:nvSpPr>
        <p:spPr>
          <a:xfrm>
            <a:off x="1572768" y="2057400"/>
            <a:ext cx="9144000" cy="512064"/>
          </a:xfrm>
          <a:prstGeom prst="rect">
            <a:avLst/>
          </a:prstGeom>
          <a:noFill/>
        </p:spPr>
        <p:txBody>
          <a:bodyPr wrap="square" anchor="ctr" lIns="25400" rIns="25400" tIns="12700" bIns="12700">
            <a:spAutoFit/>
          </a:bodyPr>
          <a:lstStyle/>
          <a:p>
            <a:pPr algn="l"/>
            <a:r>
              <a:rPr sz="1800" b="0">
                <a:solidFill>
                  <a:srgbClr val="33312B"/>
                </a:solidFill>
                <a:latin typeface="Apple SD Gothic Neo"/>
              </a:rPr>
              <a:t>프로젝트 개요 &amp; 문제 정의</a:t>
            </a:r>
          </a:p>
        </p:txBody>
      </p:sp>
      <p:sp>
        <p:nvSpPr>
          <p:cNvPr id="8" name="Rounded Rectangle 7"/>
          <p:cNvSpPr/>
          <p:nvPr/>
        </p:nvSpPr>
        <p:spPr>
          <a:xfrm>
            <a:off x="841248" y="2770632"/>
            <a:ext cx="512064" cy="512064"/>
          </a:xfrm>
          <a:prstGeom prst="roundRect">
            <a:avLst>
              <a:gd name="adj" fmla="val 22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770632"/>
            <a:ext cx="512064" cy="512064"/>
          </a:xfrm>
          <a:prstGeom prst="rect">
            <a:avLst/>
          </a:prstGeom>
          <a:noFill/>
        </p:spPr>
        <p:txBody>
          <a:bodyPr wrap="square" anchor="ctr" lIns="25400" rIns="25400" tIns="12700" bIns="12700">
            <a:spAutoFit/>
          </a:bodyPr>
          <a:lstStyle/>
          <a:p>
            <a:pPr algn="ctr"/>
            <a:r>
              <a:rPr sz="1800" b="1">
                <a:solidFill>
                  <a:srgbClr val="FFFFFF"/>
                </a:solidFill>
                <a:latin typeface="Apple SD Gothic Neo"/>
              </a:rPr>
              <a:t>2</a:t>
            </a:r>
          </a:p>
        </p:txBody>
      </p:sp>
      <p:sp>
        <p:nvSpPr>
          <p:cNvPr id="10" name="TextBox 9"/>
          <p:cNvSpPr txBox="1"/>
          <p:nvPr/>
        </p:nvSpPr>
        <p:spPr>
          <a:xfrm>
            <a:off x="1572768" y="2770632"/>
            <a:ext cx="9144000" cy="512064"/>
          </a:xfrm>
          <a:prstGeom prst="rect">
            <a:avLst/>
          </a:prstGeom>
          <a:noFill/>
        </p:spPr>
        <p:txBody>
          <a:bodyPr wrap="square" anchor="ctr" lIns="25400" rIns="25400" tIns="12700" bIns="12700">
            <a:spAutoFit/>
          </a:bodyPr>
          <a:lstStyle/>
          <a:p>
            <a:pPr algn="l"/>
            <a:r>
              <a:rPr sz="1800" b="0">
                <a:solidFill>
                  <a:srgbClr val="33312B"/>
                </a:solidFill>
                <a:latin typeface="Apple SD Gothic Neo"/>
              </a:rPr>
              <a:t>시스템 아키텍처</a:t>
            </a:r>
          </a:p>
        </p:txBody>
      </p:sp>
      <p:sp>
        <p:nvSpPr>
          <p:cNvPr id="11" name="Rounded Rectangle 10"/>
          <p:cNvSpPr/>
          <p:nvPr/>
        </p:nvSpPr>
        <p:spPr>
          <a:xfrm>
            <a:off x="841248" y="3483864"/>
            <a:ext cx="512064" cy="512064"/>
          </a:xfrm>
          <a:prstGeom prst="roundRect">
            <a:avLst>
              <a:gd name="adj" fmla="val 22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483864"/>
            <a:ext cx="512064" cy="512064"/>
          </a:xfrm>
          <a:prstGeom prst="rect">
            <a:avLst/>
          </a:prstGeom>
          <a:noFill/>
        </p:spPr>
        <p:txBody>
          <a:bodyPr wrap="square" anchor="ctr" lIns="25400" rIns="25400" tIns="12700" bIns="12700">
            <a:spAutoFit/>
          </a:bodyPr>
          <a:lstStyle/>
          <a:p>
            <a:pPr algn="ctr"/>
            <a:r>
              <a:rPr sz="1800" b="1">
                <a:solidFill>
                  <a:srgbClr val="FFFFFF"/>
                </a:solidFill>
                <a:latin typeface="Apple SD Gothic Neo"/>
              </a:rPr>
              <a:t>3</a:t>
            </a:r>
          </a:p>
        </p:txBody>
      </p:sp>
      <p:sp>
        <p:nvSpPr>
          <p:cNvPr id="13" name="TextBox 12"/>
          <p:cNvSpPr txBox="1"/>
          <p:nvPr/>
        </p:nvSpPr>
        <p:spPr>
          <a:xfrm>
            <a:off x="1572768" y="3483864"/>
            <a:ext cx="9144000" cy="512064"/>
          </a:xfrm>
          <a:prstGeom prst="rect">
            <a:avLst/>
          </a:prstGeom>
          <a:noFill/>
        </p:spPr>
        <p:txBody>
          <a:bodyPr wrap="square" anchor="ctr" lIns="25400" rIns="25400" tIns="12700" bIns="12700">
            <a:spAutoFit/>
          </a:bodyPr>
          <a:lstStyle/>
          <a:p>
            <a:pPr algn="l"/>
            <a:r>
              <a:rPr sz="1800" b="0">
                <a:solidFill>
                  <a:srgbClr val="33312B"/>
                </a:solidFill>
                <a:latin typeface="Apple SD Gothic Neo"/>
              </a:rPr>
              <a:t>핵심 플로우 — 이벤트 드리븐 파이프라인</a:t>
            </a:r>
          </a:p>
        </p:txBody>
      </p:sp>
      <p:sp>
        <p:nvSpPr>
          <p:cNvPr id="14" name="Rounded Rectangle 13"/>
          <p:cNvSpPr/>
          <p:nvPr/>
        </p:nvSpPr>
        <p:spPr>
          <a:xfrm>
            <a:off x="841248" y="4197096"/>
            <a:ext cx="512064" cy="512064"/>
          </a:xfrm>
          <a:prstGeom prst="roundRect">
            <a:avLst>
              <a:gd name="adj" fmla="val 22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4197096"/>
            <a:ext cx="512064" cy="512064"/>
          </a:xfrm>
          <a:prstGeom prst="rect">
            <a:avLst/>
          </a:prstGeom>
          <a:noFill/>
        </p:spPr>
        <p:txBody>
          <a:bodyPr wrap="square" anchor="ctr" lIns="25400" rIns="25400" tIns="12700" bIns="12700">
            <a:spAutoFit/>
          </a:bodyPr>
          <a:lstStyle/>
          <a:p>
            <a:pPr algn="ctr"/>
            <a:r>
              <a:rPr sz="1800" b="1">
                <a:solidFill>
                  <a:srgbClr val="FFFFFF"/>
                </a:solidFill>
                <a:latin typeface="Apple SD Gothic Neo"/>
              </a:rPr>
              <a:t>4</a:t>
            </a:r>
          </a:p>
        </p:txBody>
      </p:sp>
      <p:sp>
        <p:nvSpPr>
          <p:cNvPr id="16" name="TextBox 15"/>
          <p:cNvSpPr txBox="1"/>
          <p:nvPr/>
        </p:nvSpPr>
        <p:spPr>
          <a:xfrm>
            <a:off x="1572768" y="4197096"/>
            <a:ext cx="9144000" cy="512064"/>
          </a:xfrm>
          <a:prstGeom prst="rect">
            <a:avLst/>
          </a:prstGeom>
          <a:noFill/>
        </p:spPr>
        <p:txBody>
          <a:bodyPr wrap="square" anchor="ctr" lIns="25400" rIns="25400" tIns="12700" bIns="12700">
            <a:spAutoFit/>
          </a:bodyPr>
          <a:lstStyle/>
          <a:p>
            <a:pPr algn="l"/>
            <a:r>
              <a:rPr sz="1800" b="0">
                <a:solidFill>
                  <a:srgbClr val="33312B"/>
                </a:solidFill>
                <a:latin typeface="Apple SD Gothic Neo"/>
              </a:rPr>
              <a:t>신뢰성 엔지니어링</a:t>
            </a:r>
          </a:p>
        </p:txBody>
      </p:sp>
      <p:sp>
        <p:nvSpPr>
          <p:cNvPr id="17" name="Rounded Rectangle 16"/>
          <p:cNvSpPr/>
          <p:nvPr/>
        </p:nvSpPr>
        <p:spPr>
          <a:xfrm>
            <a:off x="841248" y="4910328"/>
            <a:ext cx="512064" cy="512064"/>
          </a:xfrm>
          <a:prstGeom prst="roundRect">
            <a:avLst>
              <a:gd name="adj" fmla="val 22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910328"/>
            <a:ext cx="512064" cy="512064"/>
          </a:xfrm>
          <a:prstGeom prst="rect">
            <a:avLst/>
          </a:prstGeom>
          <a:noFill/>
        </p:spPr>
        <p:txBody>
          <a:bodyPr wrap="square" anchor="ctr" lIns="25400" rIns="25400" tIns="12700" bIns="12700">
            <a:spAutoFit/>
          </a:bodyPr>
          <a:lstStyle/>
          <a:p>
            <a:pPr algn="ctr"/>
            <a:r>
              <a:rPr sz="1800" b="1">
                <a:solidFill>
                  <a:srgbClr val="FFFFFF"/>
                </a:solidFill>
                <a:latin typeface="Apple SD Gothic Neo"/>
              </a:rPr>
              <a:t>5</a:t>
            </a:r>
          </a:p>
        </p:txBody>
      </p:sp>
      <p:sp>
        <p:nvSpPr>
          <p:cNvPr id="19" name="TextBox 18"/>
          <p:cNvSpPr txBox="1"/>
          <p:nvPr/>
        </p:nvSpPr>
        <p:spPr>
          <a:xfrm>
            <a:off x="1572768" y="4910328"/>
            <a:ext cx="9144000" cy="512064"/>
          </a:xfrm>
          <a:prstGeom prst="rect">
            <a:avLst/>
          </a:prstGeom>
          <a:noFill/>
        </p:spPr>
        <p:txBody>
          <a:bodyPr wrap="square" anchor="ctr" lIns="25400" rIns="25400" tIns="12700" bIns="12700">
            <a:spAutoFit/>
          </a:bodyPr>
          <a:lstStyle/>
          <a:p>
            <a:pPr algn="l"/>
            <a:r>
              <a:rPr sz="1800" b="0">
                <a:solidFill>
                  <a:srgbClr val="33312B"/>
                </a:solidFill>
                <a:latin typeface="Apple SD Gothic Neo"/>
              </a:rPr>
              <a:t>운영 &amp; 품질</a:t>
            </a:r>
          </a:p>
        </p:txBody>
      </p:sp>
      <p:sp>
        <p:nvSpPr>
          <p:cNvPr id="20" name="Rounded Rectangle 19"/>
          <p:cNvSpPr/>
          <p:nvPr/>
        </p:nvSpPr>
        <p:spPr>
          <a:xfrm>
            <a:off x="841248" y="5623560"/>
            <a:ext cx="512064" cy="512064"/>
          </a:xfrm>
          <a:prstGeom prst="roundRect">
            <a:avLst>
              <a:gd name="adj" fmla="val 22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623560"/>
            <a:ext cx="512064" cy="512064"/>
          </a:xfrm>
          <a:prstGeom prst="rect">
            <a:avLst/>
          </a:prstGeom>
          <a:noFill/>
        </p:spPr>
        <p:txBody>
          <a:bodyPr wrap="square" anchor="ctr" lIns="25400" rIns="25400" tIns="12700" bIns="12700">
            <a:spAutoFit/>
          </a:bodyPr>
          <a:lstStyle/>
          <a:p>
            <a:pPr algn="ctr"/>
            <a:r>
              <a:rPr sz="1800" b="1">
                <a:solidFill>
                  <a:srgbClr val="FFFFFF"/>
                </a:solidFill>
                <a:latin typeface="Apple SD Gothic Neo"/>
              </a:rPr>
              <a:t>6</a:t>
            </a:r>
          </a:p>
        </p:txBody>
      </p:sp>
      <p:sp>
        <p:nvSpPr>
          <p:cNvPr id="22" name="TextBox 21"/>
          <p:cNvSpPr txBox="1"/>
          <p:nvPr/>
        </p:nvSpPr>
        <p:spPr>
          <a:xfrm>
            <a:off x="1572768" y="5623560"/>
            <a:ext cx="9144000" cy="512064"/>
          </a:xfrm>
          <a:prstGeom prst="rect">
            <a:avLst/>
          </a:prstGeom>
          <a:noFill/>
        </p:spPr>
        <p:txBody>
          <a:bodyPr wrap="square" anchor="ctr" lIns="25400" rIns="25400" tIns="12700" bIns="12700">
            <a:spAutoFit/>
          </a:bodyPr>
          <a:lstStyle/>
          <a:p>
            <a:pPr algn="l"/>
            <a:r>
              <a:rPr sz="1800" b="0">
                <a:solidFill>
                  <a:srgbClr val="33312B"/>
                </a:solidFill>
                <a:latin typeface="Apple SD Gothic Neo"/>
              </a:rPr>
              <a:t>성과 요약 &amp; 배운 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1F1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828800"/>
            <a:ext cx="3657600" cy="2011680"/>
          </a:xfrm>
          <a:prstGeom prst="rect">
            <a:avLst/>
          </a:prstGeom>
          <a:noFill/>
        </p:spPr>
        <p:txBody>
          <a:bodyPr wrap="square" anchor="ctr" lIns="25400" rIns="25400" tIns="12700" bIns="12700">
            <a:spAutoFit/>
          </a:bodyPr>
          <a:lstStyle/>
          <a:p>
            <a:pPr algn="l"/>
            <a:r>
              <a:rPr sz="12000" b="1">
                <a:solidFill>
                  <a:srgbClr val="D97757"/>
                </a:solidFill>
                <a:latin typeface="Apple SD Gothic Neo"/>
              </a:rPr>
              <a:t>01</a:t>
            </a:r>
          </a:p>
        </p:txBody>
      </p:sp>
      <p:sp>
        <p:nvSpPr>
          <p:cNvPr id="4" name="TextBox 3"/>
          <p:cNvSpPr txBox="1"/>
          <p:nvPr/>
        </p:nvSpPr>
        <p:spPr>
          <a:xfrm>
            <a:off x="3291840" y="2651760"/>
            <a:ext cx="8229600" cy="1097280"/>
          </a:xfrm>
          <a:prstGeom prst="rect">
            <a:avLst/>
          </a:prstGeom>
          <a:noFill/>
        </p:spPr>
        <p:txBody>
          <a:bodyPr wrap="square" anchor="ctr" lIns="25400" rIns="25400" tIns="12700" bIns="12700">
            <a:spAutoFit/>
          </a:bodyPr>
          <a:lstStyle/>
          <a:p>
            <a:pPr algn="l"/>
            <a:r>
              <a:rPr sz="4000" b="1">
                <a:solidFill>
                  <a:srgbClr val="FFFFFF"/>
                </a:solidFill>
                <a:latin typeface="Apple SD Gothic Neo"/>
              </a:rPr>
              <a:t>프로젝트 개요</a:t>
            </a:r>
          </a:p>
        </p:txBody>
      </p:sp>
      <p:sp>
        <p:nvSpPr>
          <p:cNvPr id="5" name="Rectangle 4"/>
          <p:cNvSpPr/>
          <p:nvPr/>
        </p:nvSpPr>
        <p:spPr>
          <a:xfrm>
            <a:off x="3337560" y="3794760"/>
            <a:ext cx="2743200" cy="457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0058400" cy="310896"/>
          </a:xfrm>
          <a:prstGeom prst="rect">
            <a:avLst/>
          </a:prstGeom>
          <a:noFill/>
        </p:spPr>
        <p:txBody>
          <a:bodyPr wrap="square" anchor="t" lIns="25400" rIns="25400" tIns="12700" bIns="12700">
            <a:spAutoFit/>
          </a:bodyPr>
          <a:lstStyle/>
          <a:p>
            <a:pPr algn="l"/>
            <a:r>
              <a:rPr sz="1150" b="1">
                <a:solidFill>
                  <a:srgbClr val="C2613F"/>
                </a:solidFill>
                <a:latin typeface="Apple SD Gothic Neo"/>
              </a:rPr>
              <a:t>01 — 프로젝트 개요</a:t>
            </a:r>
          </a:p>
        </p:txBody>
      </p:sp>
      <p:sp>
        <p:nvSpPr>
          <p:cNvPr id="4" name="TextBox 3"/>
          <p:cNvSpPr txBox="1"/>
          <p:nvPr/>
        </p:nvSpPr>
        <p:spPr>
          <a:xfrm>
            <a:off x="548640" y="713232"/>
            <a:ext cx="11155680" cy="566928"/>
          </a:xfrm>
          <a:prstGeom prst="rect">
            <a:avLst/>
          </a:prstGeom>
          <a:noFill/>
        </p:spPr>
        <p:txBody>
          <a:bodyPr wrap="square" anchor="t" lIns="25400" rIns="25400" tIns="12700" bIns="12700">
            <a:spAutoFit/>
          </a:bodyPr>
          <a:lstStyle/>
          <a:p>
            <a:pPr algn="l"/>
            <a:r>
              <a:rPr sz="2700" b="1">
                <a:solidFill>
                  <a:srgbClr val="33312B"/>
                </a:solidFill>
                <a:latin typeface="Apple SD Gothic Neo"/>
              </a:rPr>
              <a:t>프로젝트 개요 &amp; 문제 정의</a:t>
            </a:r>
          </a:p>
        </p:txBody>
      </p:sp>
      <p:sp>
        <p:nvSpPr>
          <p:cNvPr id="5" name="Rounded Rectangle 4"/>
          <p:cNvSpPr/>
          <p:nvPr/>
        </p:nvSpPr>
        <p:spPr>
          <a:xfrm>
            <a:off x="566928" y="1481328"/>
            <a:ext cx="11064240" cy="841248"/>
          </a:xfrm>
          <a:prstGeom prst="roundRect">
            <a:avLst>
              <a:gd name="adj" fmla="val 10000"/>
            </a:avLst>
          </a:prstGeom>
          <a:solidFill>
            <a:srgbClr val="F2EFE7"/>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81328"/>
            <a:ext cx="91440" cy="8412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481328"/>
            <a:ext cx="10607040" cy="841248"/>
          </a:xfrm>
          <a:prstGeom prst="rect">
            <a:avLst/>
          </a:prstGeom>
          <a:noFill/>
        </p:spPr>
        <p:txBody>
          <a:bodyPr wrap="square" anchor="ctr">
            <a:spAutoFit/>
          </a:bodyPr>
          <a:lstStyle/>
          <a:p>
            <a:pPr>
              <a:lnSpc>
                <a:spcPct val="110000"/>
              </a:lnSpc>
            </a:pPr>
            <a:r>
              <a:rPr sz="1200" b="1">
                <a:solidFill>
                  <a:srgbClr val="C2613F"/>
                </a:solidFill>
                <a:latin typeface="Apple SD Gothic Neo"/>
              </a:rPr>
              <a:t>핵심   </a:t>
            </a:r>
            <a:r>
              <a:rPr sz="1250" b="1">
                <a:solidFill>
                  <a:srgbClr val="33312B"/>
                </a:solidFill>
                <a:latin typeface="Apple SD Gothic Neo"/>
              </a:rPr>
              <a:t>고객사가 알림 인프라를 직접 구축할 필요 없이, API 한 번으로 Email/SMS/Push 발송을 위임하는 B2B SaaS 플랫폼</a:t>
            </a:r>
          </a:p>
        </p:txBody>
      </p:sp>
      <p:sp>
        <p:nvSpPr>
          <p:cNvPr id="8" name="TextBox 7"/>
          <p:cNvSpPr txBox="1"/>
          <p:nvPr/>
        </p:nvSpPr>
        <p:spPr>
          <a:xfrm>
            <a:off x="640080" y="2715768"/>
            <a:ext cx="4572000" cy="3566160"/>
          </a:xfrm>
          <a:prstGeom prst="rect">
            <a:avLst/>
          </a:prstGeom>
          <a:noFill/>
        </p:spPr>
        <p:txBody>
          <a:bodyPr wrap="square" lIns="0" rIns="0">
            <a:spAutoFit/>
          </a:bodyPr>
          <a:lstStyle/>
          <a:p>
            <a:pPr>
              <a:lnSpc>
                <a:spcPct val="112000"/>
              </a:lnSpc>
              <a:spcBef>
                <a:spcPts val="0"/>
              </a:spcBef>
              <a:spcAft>
                <a:spcPts val="0"/>
              </a:spcAft>
            </a:pPr>
            <a:r>
              <a:rPr sz="1250" b="1">
                <a:solidFill>
                  <a:srgbClr val="D97757"/>
                </a:solidFill>
                <a:latin typeface="Apple SD Gothic Neo"/>
              </a:rPr>
              <a:t>▸  </a:t>
            </a:r>
            <a:r>
              <a:rPr sz="1250">
                <a:solidFill>
                  <a:srgbClr val="33312B"/>
                </a:solidFill>
                <a:latin typeface="Apple SD Gothic Neo"/>
              </a:rPr>
              <a:t>문제: 모든 서비스가 알림 발송·재시도·통계 인프라를 중복 구축 → 비용·운영 부담</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해결: 멀티테넌트 허브가 발송·재시도·집계를 대행, 고객사는 REST API만 호출</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테넌트 격리: JWT 클레임 기반 X-Tenant-Id 주입으로 고객사 간 데이터 완전 분리</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규모: Java 17 · Spring Boot 3.2 · 6개 MSA · Kafka 이벤트 파이프라인</a:t>
            </a:r>
          </a:p>
        </p:txBody>
      </p:sp>
      <p:sp>
        <p:nvSpPr>
          <p:cNvPr id="9" name="TextBox 8"/>
          <p:cNvSpPr txBox="1"/>
          <p:nvPr/>
        </p:nvSpPr>
        <p:spPr>
          <a:xfrm>
            <a:off x="5532120" y="2624327"/>
            <a:ext cx="2926079" cy="310896"/>
          </a:xfrm>
          <a:prstGeom prst="rect">
            <a:avLst/>
          </a:prstGeom>
          <a:noFill/>
        </p:spPr>
        <p:txBody>
          <a:bodyPr wrap="square" anchor="t" lIns="25400" rIns="25400" tIns="12700" bIns="12700">
            <a:spAutoFit/>
          </a:bodyPr>
          <a:lstStyle/>
          <a:p>
            <a:pPr algn="ctr"/>
            <a:r>
              <a:rPr sz="1150" b="1">
                <a:solidFill>
                  <a:srgbClr val="6E6A60"/>
                </a:solidFill>
                <a:latin typeface="Apple SD Gothic Neo"/>
              </a:rPr>
              <a:t>기존 — 서비스마다 각자 구축</a:t>
            </a:r>
          </a:p>
        </p:txBody>
      </p:sp>
      <p:sp>
        <p:nvSpPr>
          <p:cNvPr id="10" name="Rounded Rectangle 9"/>
          <p:cNvSpPr/>
          <p:nvPr/>
        </p:nvSpPr>
        <p:spPr>
          <a:xfrm>
            <a:off x="5669280" y="3081527"/>
            <a:ext cx="2377440" cy="676656"/>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3162726"/>
            <a:ext cx="2377440" cy="338328"/>
          </a:xfrm>
          <a:prstGeom prst="rect">
            <a:avLst/>
          </a:prstGeom>
          <a:noFill/>
        </p:spPr>
        <p:txBody>
          <a:bodyPr wrap="square" anchor="b" lIns="25400" rIns="25400" tIns="12700" bIns="12700">
            <a:spAutoFit/>
          </a:bodyPr>
          <a:lstStyle/>
          <a:p>
            <a:pPr algn="ctr"/>
            <a:r>
              <a:rPr sz="1200" b="1">
                <a:solidFill>
                  <a:srgbClr val="33312B"/>
                </a:solidFill>
                <a:latin typeface="Apple SD Gothic Neo"/>
              </a:rPr>
              <a:t>서비스 A</a:t>
            </a:r>
          </a:p>
        </p:txBody>
      </p:sp>
      <p:sp>
        <p:nvSpPr>
          <p:cNvPr id="12" name="TextBox 11"/>
          <p:cNvSpPr txBox="1"/>
          <p:nvPr/>
        </p:nvSpPr>
        <p:spPr>
          <a:xfrm>
            <a:off x="5669280" y="3419856"/>
            <a:ext cx="2377440" cy="284195"/>
          </a:xfrm>
          <a:prstGeom prst="rect">
            <a:avLst/>
          </a:prstGeom>
          <a:noFill/>
        </p:spPr>
        <p:txBody>
          <a:bodyPr wrap="square" anchor="t" lIns="25400" rIns="25400" tIns="12700" bIns="12700">
            <a:spAutoFit/>
          </a:bodyPr>
          <a:lstStyle/>
          <a:p>
            <a:pPr algn="ctr"/>
            <a:r>
              <a:rPr sz="850" b="0">
                <a:solidFill>
                  <a:srgbClr val="C2613F"/>
                </a:solidFill>
                <a:latin typeface="Apple SD Gothic Neo"/>
              </a:rPr>
              <a:t>+ 알림·재시도·통계 직접 구현</a:t>
            </a:r>
          </a:p>
        </p:txBody>
      </p:sp>
      <p:sp>
        <p:nvSpPr>
          <p:cNvPr id="13" name="Rounded Rectangle 12"/>
          <p:cNvSpPr/>
          <p:nvPr/>
        </p:nvSpPr>
        <p:spPr>
          <a:xfrm>
            <a:off x="5669280" y="3922776"/>
            <a:ext cx="2377440" cy="676656"/>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4003974"/>
            <a:ext cx="2377440" cy="338328"/>
          </a:xfrm>
          <a:prstGeom prst="rect">
            <a:avLst/>
          </a:prstGeom>
          <a:noFill/>
        </p:spPr>
        <p:txBody>
          <a:bodyPr wrap="square" anchor="b" lIns="25400" rIns="25400" tIns="12700" bIns="12700">
            <a:spAutoFit/>
          </a:bodyPr>
          <a:lstStyle/>
          <a:p>
            <a:pPr algn="ctr"/>
            <a:r>
              <a:rPr sz="1200" b="1">
                <a:solidFill>
                  <a:srgbClr val="33312B"/>
                </a:solidFill>
                <a:latin typeface="Apple SD Gothic Neo"/>
              </a:rPr>
              <a:t>서비스 B</a:t>
            </a:r>
          </a:p>
        </p:txBody>
      </p:sp>
      <p:sp>
        <p:nvSpPr>
          <p:cNvPr id="15" name="TextBox 14"/>
          <p:cNvSpPr txBox="1"/>
          <p:nvPr/>
        </p:nvSpPr>
        <p:spPr>
          <a:xfrm>
            <a:off x="5669280" y="4261104"/>
            <a:ext cx="2377440" cy="284195"/>
          </a:xfrm>
          <a:prstGeom prst="rect">
            <a:avLst/>
          </a:prstGeom>
          <a:noFill/>
        </p:spPr>
        <p:txBody>
          <a:bodyPr wrap="square" anchor="t" lIns="25400" rIns="25400" tIns="12700" bIns="12700">
            <a:spAutoFit/>
          </a:bodyPr>
          <a:lstStyle/>
          <a:p>
            <a:pPr algn="ctr"/>
            <a:r>
              <a:rPr sz="850" b="0">
                <a:solidFill>
                  <a:srgbClr val="C2613F"/>
                </a:solidFill>
                <a:latin typeface="Apple SD Gothic Neo"/>
              </a:rPr>
              <a:t>+ 알림·재시도·통계 직접 구현</a:t>
            </a:r>
          </a:p>
        </p:txBody>
      </p:sp>
      <p:sp>
        <p:nvSpPr>
          <p:cNvPr id="16" name="Rounded Rectangle 15"/>
          <p:cNvSpPr/>
          <p:nvPr/>
        </p:nvSpPr>
        <p:spPr>
          <a:xfrm>
            <a:off x="5669280" y="4764024"/>
            <a:ext cx="2377440" cy="676656"/>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4845222"/>
            <a:ext cx="2377440" cy="338328"/>
          </a:xfrm>
          <a:prstGeom prst="rect">
            <a:avLst/>
          </a:prstGeom>
          <a:noFill/>
        </p:spPr>
        <p:txBody>
          <a:bodyPr wrap="square" anchor="b" lIns="25400" rIns="25400" tIns="12700" bIns="12700">
            <a:spAutoFit/>
          </a:bodyPr>
          <a:lstStyle/>
          <a:p>
            <a:pPr algn="ctr"/>
            <a:r>
              <a:rPr sz="1200" b="1">
                <a:solidFill>
                  <a:srgbClr val="33312B"/>
                </a:solidFill>
                <a:latin typeface="Apple SD Gothic Neo"/>
              </a:rPr>
              <a:t>서비스 C</a:t>
            </a:r>
          </a:p>
        </p:txBody>
      </p:sp>
      <p:sp>
        <p:nvSpPr>
          <p:cNvPr id="18" name="TextBox 17"/>
          <p:cNvSpPr txBox="1"/>
          <p:nvPr/>
        </p:nvSpPr>
        <p:spPr>
          <a:xfrm>
            <a:off x="5669280" y="5102352"/>
            <a:ext cx="2377440" cy="284195"/>
          </a:xfrm>
          <a:prstGeom prst="rect">
            <a:avLst/>
          </a:prstGeom>
          <a:noFill/>
        </p:spPr>
        <p:txBody>
          <a:bodyPr wrap="square" anchor="t" lIns="25400" rIns="25400" tIns="12700" bIns="12700">
            <a:spAutoFit/>
          </a:bodyPr>
          <a:lstStyle/>
          <a:p>
            <a:pPr algn="ctr"/>
            <a:r>
              <a:rPr sz="850" b="0">
                <a:solidFill>
                  <a:srgbClr val="C2613F"/>
                </a:solidFill>
                <a:latin typeface="Apple SD Gothic Neo"/>
              </a:rPr>
              <a:t>+ 알림·재시도·통계 직접 구현</a:t>
            </a:r>
          </a:p>
        </p:txBody>
      </p:sp>
      <p:sp>
        <p:nvSpPr>
          <p:cNvPr id="19" name="Rectangle 18"/>
          <p:cNvSpPr/>
          <p:nvPr/>
        </p:nvSpPr>
        <p:spPr>
          <a:xfrm>
            <a:off x="8531352" y="3035808"/>
            <a:ext cx="18288" cy="2697480"/>
          </a:xfrm>
          <a:prstGeom prst="rect">
            <a:avLst/>
          </a:prstGeom>
          <a:solidFill>
            <a:srgbClr val="E0D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2624327"/>
            <a:ext cx="3017520" cy="310896"/>
          </a:xfrm>
          <a:prstGeom prst="rect">
            <a:avLst/>
          </a:prstGeom>
          <a:noFill/>
        </p:spPr>
        <p:txBody>
          <a:bodyPr wrap="square" anchor="t" lIns="25400" rIns="25400" tIns="12700" bIns="12700">
            <a:spAutoFit/>
          </a:bodyPr>
          <a:lstStyle/>
          <a:p>
            <a:pPr algn="ctr"/>
            <a:r>
              <a:rPr sz="1150" b="1">
                <a:solidFill>
                  <a:srgbClr val="C2613F"/>
                </a:solidFill>
                <a:latin typeface="Apple SD Gothic Neo"/>
              </a:rPr>
              <a:t>Notification Hub — 단일 허브 위임</a:t>
            </a:r>
          </a:p>
        </p:txBody>
      </p:sp>
      <p:sp>
        <p:nvSpPr>
          <p:cNvPr id="21" name="Rounded Rectangle 20"/>
          <p:cNvSpPr/>
          <p:nvPr/>
        </p:nvSpPr>
        <p:spPr>
          <a:xfrm>
            <a:off x="8686800" y="3127248"/>
            <a:ext cx="1051560" cy="420624"/>
          </a:xfrm>
          <a:prstGeom prst="roundRect">
            <a:avLst>
              <a:gd name="adj" fmla="val 14000"/>
            </a:avLst>
          </a:prstGeom>
          <a:solidFill>
            <a:srgbClr val="F2EFE7"/>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3127248"/>
            <a:ext cx="1051560" cy="420624"/>
          </a:xfrm>
          <a:prstGeom prst="rect">
            <a:avLst/>
          </a:prstGeom>
          <a:noFill/>
        </p:spPr>
        <p:txBody>
          <a:bodyPr wrap="square" anchor="ctr" lIns="25400" rIns="25400" tIns="12700" bIns="12700">
            <a:spAutoFit/>
          </a:bodyPr>
          <a:lstStyle/>
          <a:p>
            <a:pPr algn="ctr"/>
            <a:r>
              <a:rPr sz="950" b="1">
                <a:solidFill>
                  <a:srgbClr val="33312B"/>
                </a:solidFill>
                <a:latin typeface="Apple SD Gothic Neo"/>
              </a:rPr>
              <a:t>서비스 A</a:t>
            </a:r>
          </a:p>
        </p:txBody>
      </p:sp>
      <p:cxnSp>
        <p:nvCxnSpPr>
          <p:cNvPr id="23" name="Connector 22"/>
          <p:cNvCxnSpPr/>
          <p:nvPr/>
        </p:nvCxnSpPr>
        <p:spPr>
          <a:xfrm>
            <a:off x="9765792" y="3337560"/>
            <a:ext cx="548640" cy="768096"/>
          </a:xfrm>
          <a:prstGeom prst="line">
            <a:avLst/>
          </a:prstGeom>
          <a:ln w="1778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686800" y="3694176"/>
            <a:ext cx="1051560" cy="420624"/>
          </a:xfrm>
          <a:prstGeom prst="roundRect">
            <a:avLst>
              <a:gd name="adj" fmla="val 14000"/>
            </a:avLst>
          </a:prstGeom>
          <a:solidFill>
            <a:srgbClr val="F2EFE7"/>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0" y="3694176"/>
            <a:ext cx="1051560" cy="420624"/>
          </a:xfrm>
          <a:prstGeom prst="rect">
            <a:avLst/>
          </a:prstGeom>
          <a:noFill/>
        </p:spPr>
        <p:txBody>
          <a:bodyPr wrap="square" anchor="ctr" lIns="25400" rIns="25400" tIns="12700" bIns="12700">
            <a:spAutoFit/>
          </a:bodyPr>
          <a:lstStyle/>
          <a:p>
            <a:pPr algn="ctr"/>
            <a:r>
              <a:rPr sz="950" b="1">
                <a:solidFill>
                  <a:srgbClr val="33312B"/>
                </a:solidFill>
                <a:latin typeface="Apple SD Gothic Neo"/>
              </a:rPr>
              <a:t>서비스 B</a:t>
            </a:r>
          </a:p>
        </p:txBody>
      </p:sp>
      <p:cxnSp>
        <p:nvCxnSpPr>
          <p:cNvPr id="26" name="Connector 25"/>
          <p:cNvCxnSpPr/>
          <p:nvPr/>
        </p:nvCxnSpPr>
        <p:spPr>
          <a:xfrm>
            <a:off x="9765792" y="3904488"/>
            <a:ext cx="548640" cy="201168"/>
          </a:xfrm>
          <a:prstGeom prst="line">
            <a:avLst/>
          </a:prstGeom>
          <a:ln w="1778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686800" y="4261104"/>
            <a:ext cx="1051560" cy="420624"/>
          </a:xfrm>
          <a:prstGeom prst="roundRect">
            <a:avLst>
              <a:gd name="adj" fmla="val 14000"/>
            </a:avLst>
          </a:prstGeom>
          <a:solidFill>
            <a:srgbClr val="F2EFE7"/>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0" y="4261104"/>
            <a:ext cx="1051560" cy="420624"/>
          </a:xfrm>
          <a:prstGeom prst="rect">
            <a:avLst/>
          </a:prstGeom>
          <a:noFill/>
        </p:spPr>
        <p:txBody>
          <a:bodyPr wrap="square" anchor="ctr" lIns="25400" rIns="25400" tIns="12700" bIns="12700">
            <a:spAutoFit/>
          </a:bodyPr>
          <a:lstStyle/>
          <a:p>
            <a:pPr algn="ctr"/>
            <a:r>
              <a:rPr sz="950" b="1">
                <a:solidFill>
                  <a:srgbClr val="33312B"/>
                </a:solidFill>
                <a:latin typeface="Apple SD Gothic Neo"/>
              </a:rPr>
              <a:t>서비스 C</a:t>
            </a:r>
          </a:p>
        </p:txBody>
      </p:sp>
      <p:cxnSp>
        <p:nvCxnSpPr>
          <p:cNvPr id="29" name="Connector 28"/>
          <p:cNvCxnSpPr/>
          <p:nvPr/>
        </p:nvCxnSpPr>
        <p:spPr>
          <a:xfrm flipV="1">
            <a:off x="9765792" y="4105656"/>
            <a:ext cx="548640" cy="365760"/>
          </a:xfrm>
          <a:prstGeom prst="line">
            <a:avLst/>
          </a:prstGeom>
          <a:ln w="1778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332720" y="3703320"/>
            <a:ext cx="1371600" cy="822960"/>
          </a:xfrm>
          <a:prstGeom prst="roundRect">
            <a:avLst>
              <a:gd name="adj" fmla="val 1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20" y="3703320"/>
            <a:ext cx="1371600" cy="822960"/>
          </a:xfrm>
          <a:prstGeom prst="rect">
            <a:avLst/>
          </a:prstGeom>
          <a:noFill/>
        </p:spPr>
        <p:txBody>
          <a:bodyPr wrap="square" anchor="ctr" lIns="25400" rIns="25400" tIns="12700" bIns="12700">
            <a:spAutoFit/>
          </a:bodyPr>
          <a:lstStyle/>
          <a:p>
            <a:pPr algn="ctr"/>
            <a:r>
              <a:rPr sz="1150" b="1">
                <a:solidFill>
                  <a:srgbClr val="FFFFFF"/>
                </a:solidFill>
                <a:latin typeface="Apple SD Gothic Neo"/>
              </a:rPr>
              <a:t>Notification
Hub</a:t>
            </a:r>
          </a:p>
        </p:txBody>
      </p:sp>
      <p:cxnSp>
        <p:nvCxnSpPr>
          <p:cNvPr id="32" name="Connector 31"/>
          <p:cNvCxnSpPr/>
          <p:nvPr/>
        </p:nvCxnSpPr>
        <p:spPr>
          <a:xfrm flipH="1">
            <a:off x="10469880" y="4544568"/>
            <a:ext cx="548640" cy="411480"/>
          </a:xfrm>
          <a:prstGeom prst="line">
            <a:avLst/>
          </a:prstGeom>
          <a:ln w="15240">
            <a:solidFill>
              <a:srgbClr val="D9775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168128" y="4956048"/>
            <a:ext cx="530352" cy="310896"/>
          </a:xfrm>
          <a:prstGeom prst="roundRect">
            <a:avLst>
              <a:gd name="adj" fmla="val 50000"/>
            </a:avLst>
          </a:prstGeom>
          <a:solidFill>
            <a:srgbClr val="F4E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68128" y="4956048"/>
            <a:ext cx="530352" cy="310896"/>
          </a:xfrm>
          <a:prstGeom prst="rect">
            <a:avLst/>
          </a:prstGeom>
          <a:noFill/>
        </p:spPr>
        <p:txBody>
          <a:bodyPr wrap="square" anchor="ctr" lIns="25400" rIns="25400" tIns="12700" bIns="12700">
            <a:spAutoFit/>
          </a:bodyPr>
          <a:lstStyle/>
          <a:p>
            <a:pPr algn="ctr"/>
            <a:r>
              <a:rPr sz="850" b="1">
                <a:solidFill>
                  <a:srgbClr val="C2613F"/>
                </a:solidFill>
                <a:latin typeface="Apple SD Gothic Neo"/>
              </a:rPr>
              <a:t>Email</a:t>
            </a:r>
          </a:p>
        </p:txBody>
      </p:sp>
      <p:cxnSp>
        <p:nvCxnSpPr>
          <p:cNvPr id="35" name="Connector 34"/>
          <p:cNvCxnSpPr/>
          <p:nvPr/>
        </p:nvCxnSpPr>
        <p:spPr>
          <a:xfrm>
            <a:off x="11018520" y="4544568"/>
            <a:ext cx="18287" cy="411480"/>
          </a:xfrm>
          <a:prstGeom prst="line">
            <a:avLst/>
          </a:prstGeom>
          <a:ln w="15240">
            <a:solidFill>
              <a:srgbClr val="D97757"/>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735056" y="4956048"/>
            <a:ext cx="530352" cy="310896"/>
          </a:xfrm>
          <a:prstGeom prst="roundRect">
            <a:avLst>
              <a:gd name="adj" fmla="val 50000"/>
            </a:avLst>
          </a:prstGeom>
          <a:solidFill>
            <a:srgbClr val="F4E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35056" y="4956048"/>
            <a:ext cx="530352" cy="310896"/>
          </a:xfrm>
          <a:prstGeom prst="rect">
            <a:avLst/>
          </a:prstGeom>
          <a:noFill/>
        </p:spPr>
        <p:txBody>
          <a:bodyPr wrap="square" anchor="ctr" lIns="25400" rIns="25400" tIns="12700" bIns="12700">
            <a:spAutoFit/>
          </a:bodyPr>
          <a:lstStyle/>
          <a:p>
            <a:pPr algn="ctr"/>
            <a:r>
              <a:rPr sz="850" b="1">
                <a:solidFill>
                  <a:srgbClr val="C2613F"/>
                </a:solidFill>
                <a:latin typeface="Apple SD Gothic Neo"/>
              </a:rPr>
              <a:t>SMS</a:t>
            </a:r>
          </a:p>
        </p:txBody>
      </p:sp>
      <p:cxnSp>
        <p:nvCxnSpPr>
          <p:cNvPr id="38" name="Connector 37"/>
          <p:cNvCxnSpPr/>
          <p:nvPr/>
        </p:nvCxnSpPr>
        <p:spPr>
          <a:xfrm>
            <a:off x="11018520" y="4544568"/>
            <a:ext cx="585216" cy="411480"/>
          </a:xfrm>
          <a:prstGeom prst="line">
            <a:avLst/>
          </a:prstGeom>
          <a:ln w="15240">
            <a:solidFill>
              <a:srgbClr val="D97757"/>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1301984" y="4956048"/>
            <a:ext cx="530352" cy="310896"/>
          </a:xfrm>
          <a:prstGeom prst="roundRect">
            <a:avLst>
              <a:gd name="adj" fmla="val 50000"/>
            </a:avLst>
          </a:prstGeom>
          <a:solidFill>
            <a:srgbClr val="F4E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301984" y="4956048"/>
            <a:ext cx="530352" cy="310896"/>
          </a:xfrm>
          <a:prstGeom prst="rect">
            <a:avLst/>
          </a:prstGeom>
          <a:noFill/>
        </p:spPr>
        <p:txBody>
          <a:bodyPr wrap="square" anchor="ctr" lIns="25400" rIns="25400" tIns="12700" bIns="12700">
            <a:spAutoFit/>
          </a:bodyPr>
          <a:lstStyle/>
          <a:p>
            <a:pPr algn="ctr"/>
            <a:r>
              <a:rPr sz="850" b="1">
                <a:solidFill>
                  <a:srgbClr val="C2613F"/>
                </a:solidFill>
                <a:latin typeface="Apple SD Gothic Neo"/>
              </a:rPr>
              <a:t>Push</a:t>
            </a:r>
          </a:p>
        </p:txBody>
      </p:sp>
      <p:sp>
        <p:nvSpPr>
          <p:cNvPr id="41" name="TextBox 40"/>
          <p:cNvSpPr txBox="1"/>
          <p:nvPr/>
        </p:nvSpPr>
        <p:spPr>
          <a:xfrm>
            <a:off x="11551615" y="6446520"/>
            <a:ext cx="365760" cy="274320"/>
          </a:xfrm>
          <a:prstGeom prst="rect">
            <a:avLst/>
          </a:prstGeom>
          <a:noFill/>
        </p:spPr>
        <p:txBody>
          <a:bodyPr wrap="square" anchor="t" lIns="25400" rIns="25400" tIns="12700" bIns="12700">
            <a:spAutoFit/>
          </a:bodyPr>
          <a:lstStyle/>
          <a:p>
            <a:pPr algn="r"/>
            <a:r>
              <a:rPr sz="1000" b="0">
                <a:solidFill>
                  <a:srgbClr val="6E6A60"/>
                </a:solidFill>
                <a:latin typeface="Apple SD Gothic Neo"/>
              </a:rPr>
              <a: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01F1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828800"/>
            <a:ext cx="3657600" cy="2011680"/>
          </a:xfrm>
          <a:prstGeom prst="rect">
            <a:avLst/>
          </a:prstGeom>
          <a:noFill/>
        </p:spPr>
        <p:txBody>
          <a:bodyPr wrap="square" anchor="ctr" lIns="25400" rIns="25400" tIns="12700" bIns="12700">
            <a:spAutoFit/>
          </a:bodyPr>
          <a:lstStyle/>
          <a:p>
            <a:pPr algn="l"/>
            <a:r>
              <a:rPr sz="12000" b="1">
                <a:solidFill>
                  <a:srgbClr val="D97757"/>
                </a:solidFill>
                <a:latin typeface="Apple SD Gothic Neo"/>
              </a:rPr>
              <a:t>02</a:t>
            </a:r>
          </a:p>
        </p:txBody>
      </p:sp>
      <p:sp>
        <p:nvSpPr>
          <p:cNvPr id="4" name="TextBox 3"/>
          <p:cNvSpPr txBox="1"/>
          <p:nvPr/>
        </p:nvSpPr>
        <p:spPr>
          <a:xfrm>
            <a:off x="3291840" y="2651760"/>
            <a:ext cx="8229600" cy="1097280"/>
          </a:xfrm>
          <a:prstGeom prst="rect">
            <a:avLst/>
          </a:prstGeom>
          <a:noFill/>
        </p:spPr>
        <p:txBody>
          <a:bodyPr wrap="square" anchor="ctr" lIns="25400" rIns="25400" tIns="12700" bIns="12700">
            <a:spAutoFit/>
          </a:bodyPr>
          <a:lstStyle/>
          <a:p>
            <a:pPr algn="l"/>
            <a:r>
              <a:rPr sz="4000" b="1">
                <a:solidFill>
                  <a:srgbClr val="FFFFFF"/>
                </a:solidFill>
                <a:latin typeface="Apple SD Gothic Neo"/>
              </a:rPr>
              <a:t>시스템 아키텍처</a:t>
            </a:r>
          </a:p>
        </p:txBody>
      </p:sp>
      <p:sp>
        <p:nvSpPr>
          <p:cNvPr id="5" name="Rectangle 4"/>
          <p:cNvSpPr/>
          <p:nvPr/>
        </p:nvSpPr>
        <p:spPr>
          <a:xfrm>
            <a:off x="3337560" y="3794760"/>
            <a:ext cx="2743200" cy="457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0058400" cy="310896"/>
          </a:xfrm>
          <a:prstGeom prst="rect">
            <a:avLst/>
          </a:prstGeom>
          <a:noFill/>
        </p:spPr>
        <p:txBody>
          <a:bodyPr wrap="square" anchor="t" lIns="25400" rIns="25400" tIns="12700" bIns="12700">
            <a:spAutoFit/>
          </a:bodyPr>
          <a:lstStyle/>
          <a:p>
            <a:pPr algn="l"/>
            <a:r>
              <a:rPr sz="1150" b="1">
                <a:solidFill>
                  <a:srgbClr val="C2613F"/>
                </a:solidFill>
                <a:latin typeface="Apple SD Gothic Neo"/>
              </a:rPr>
              <a:t>02 — 시스템 아키텍처</a:t>
            </a:r>
          </a:p>
        </p:txBody>
      </p:sp>
      <p:sp>
        <p:nvSpPr>
          <p:cNvPr id="4" name="TextBox 3"/>
          <p:cNvSpPr txBox="1"/>
          <p:nvPr/>
        </p:nvSpPr>
        <p:spPr>
          <a:xfrm>
            <a:off x="548640" y="713232"/>
            <a:ext cx="11155680" cy="566928"/>
          </a:xfrm>
          <a:prstGeom prst="rect">
            <a:avLst/>
          </a:prstGeom>
          <a:noFill/>
        </p:spPr>
        <p:txBody>
          <a:bodyPr wrap="square" anchor="t" lIns="25400" rIns="25400" tIns="12700" bIns="12700">
            <a:spAutoFit/>
          </a:bodyPr>
          <a:lstStyle/>
          <a:p>
            <a:pPr algn="l"/>
            <a:r>
              <a:rPr sz="2700" b="1">
                <a:solidFill>
                  <a:srgbClr val="33312B"/>
                </a:solidFill>
                <a:latin typeface="Apple SD Gothic Neo"/>
              </a:rPr>
              <a:t>시스템 아키텍처</a:t>
            </a:r>
          </a:p>
        </p:txBody>
      </p:sp>
      <p:sp>
        <p:nvSpPr>
          <p:cNvPr id="5" name="Rounded Rectangle 4"/>
          <p:cNvSpPr/>
          <p:nvPr/>
        </p:nvSpPr>
        <p:spPr>
          <a:xfrm>
            <a:off x="566928" y="1481328"/>
            <a:ext cx="11064240" cy="841248"/>
          </a:xfrm>
          <a:prstGeom prst="roundRect">
            <a:avLst>
              <a:gd name="adj" fmla="val 10000"/>
            </a:avLst>
          </a:prstGeom>
          <a:solidFill>
            <a:srgbClr val="F2EFE7"/>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81328"/>
            <a:ext cx="91440" cy="8412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481328"/>
            <a:ext cx="10607040" cy="841248"/>
          </a:xfrm>
          <a:prstGeom prst="rect">
            <a:avLst/>
          </a:prstGeom>
          <a:noFill/>
        </p:spPr>
        <p:txBody>
          <a:bodyPr wrap="square" anchor="ctr">
            <a:spAutoFit/>
          </a:bodyPr>
          <a:lstStyle/>
          <a:p>
            <a:pPr>
              <a:lnSpc>
                <a:spcPct val="110000"/>
              </a:lnSpc>
            </a:pPr>
            <a:r>
              <a:rPr sz="1200" b="1">
                <a:solidFill>
                  <a:srgbClr val="C2613F"/>
                </a:solidFill>
                <a:latin typeface="Apple SD Gothic Neo"/>
              </a:rPr>
              <a:t>핵심   </a:t>
            </a:r>
            <a:r>
              <a:rPr sz="1250" b="1">
                <a:solidFill>
                  <a:srgbClr val="33312B"/>
                </a:solidFill>
                <a:latin typeface="Apple SD Gothic Neo"/>
              </a:rPr>
              <a:t>6개 MSA + Clean Architecture(Port &amp; Adapter)로 도메인 로직을 Spring/JPA 같은 인프라에서 완전히 분리</a:t>
            </a:r>
          </a:p>
        </p:txBody>
      </p:sp>
      <p:sp>
        <p:nvSpPr>
          <p:cNvPr id="8" name="TextBox 7"/>
          <p:cNvSpPr txBox="1"/>
          <p:nvPr/>
        </p:nvSpPr>
        <p:spPr>
          <a:xfrm>
            <a:off x="640080" y="2715768"/>
            <a:ext cx="4572000" cy="3566160"/>
          </a:xfrm>
          <a:prstGeom prst="rect">
            <a:avLst/>
          </a:prstGeom>
          <a:noFill/>
        </p:spPr>
        <p:txBody>
          <a:bodyPr wrap="square" lIns="0" rIns="0">
            <a:spAutoFit/>
          </a:bodyPr>
          <a:lstStyle/>
          <a:p>
            <a:pPr>
              <a:lnSpc>
                <a:spcPct val="112000"/>
              </a:lnSpc>
              <a:spcBef>
                <a:spcPts val="0"/>
              </a:spcBef>
              <a:spcAft>
                <a:spcPts val="0"/>
              </a:spcAft>
            </a:pPr>
            <a:r>
              <a:rPr sz="1250" b="1">
                <a:solidFill>
                  <a:srgbClr val="D97757"/>
                </a:solidFill>
                <a:latin typeface="Apple SD Gothic Neo"/>
              </a:rPr>
              <a:t>▸  </a:t>
            </a:r>
            <a:r>
              <a:rPr sz="1250">
                <a:solidFill>
                  <a:srgbClr val="33312B"/>
                </a:solidFill>
                <a:latin typeface="Apple SD Gothic Neo"/>
              </a:rPr>
              <a:t>6개 서비스: Discovery · Gateway · User · Notification · Delivery · Analytics</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의존성 방향: presentation → application → domain (domain은 외부 의존 0)</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인프라 교체 시 도메인 변경 없이 어댑터만 교체 → ArchUnit으로 규칙 자동 검증</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폴리글랏 저장소: 트랜잭션 MySQL · 통계 MongoDB · 멱등성/카운터 Redis</a:t>
            </a:r>
          </a:p>
        </p:txBody>
      </p:sp>
      <p:sp>
        <p:nvSpPr>
          <p:cNvPr id="9" name="TextBox 8"/>
          <p:cNvSpPr txBox="1"/>
          <p:nvPr/>
        </p:nvSpPr>
        <p:spPr>
          <a:xfrm>
            <a:off x="5532120" y="2670048"/>
            <a:ext cx="2743200" cy="292608"/>
          </a:xfrm>
          <a:prstGeom prst="rect">
            <a:avLst/>
          </a:prstGeom>
          <a:noFill/>
        </p:spPr>
        <p:txBody>
          <a:bodyPr wrap="square" anchor="t" lIns="25400" rIns="25400" tIns="12700" bIns="12700">
            <a:spAutoFit/>
          </a:bodyPr>
          <a:lstStyle/>
          <a:p>
            <a:pPr algn="ctr"/>
            <a:r>
              <a:rPr sz="1100" b="1">
                <a:solidFill>
                  <a:srgbClr val="6E6A60"/>
                </a:solidFill>
                <a:latin typeface="Apple SD Gothic Neo"/>
              </a:rPr>
              <a:t>Clean Architecture</a:t>
            </a:r>
          </a:p>
        </p:txBody>
      </p:sp>
      <p:sp>
        <p:nvSpPr>
          <p:cNvPr id="10" name="Oval 9"/>
          <p:cNvSpPr/>
          <p:nvPr/>
        </p:nvSpPr>
        <p:spPr>
          <a:xfrm>
            <a:off x="5532120" y="3127248"/>
            <a:ext cx="2743200" cy="2743200"/>
          </a:xfrm>
          <a:prstGeom prst="ellipse">
            <a:avLst/>
          </a:prstGeom>
          <a:solidFill>
            <a:srgbClr val="EAE6D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43016" y="3438144"/>
            <a:ext cx="2121408" cy="2121408"/>
          </a:xfrm>
          <a:prstGeom prst="ellipse">
            <a:avLst/>
          </a:prstGeom>
          <a:solidFill>
            <a:srgbClr val="E3E7E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53912" y="3749039"/>
            <a:ext cx="1499616" cy="1499616"/>
          </a:xfrm>
          <a:prstGeom prst="ellipse">
            <a:avLst/>
          </a:prstGeom>
          <a:solidFill>
            <a:srgbClr val="F4E2D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64808" y="4059935"/>
            <a:ext cx="877824" cy="877824"/>
          </a:xfrm>
          <a:prstGeom prst="ellipse">
            <a:avLst/>
          </a:prstGeom>
          <a:solidFill>
            <a:srgbClr val="D9775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20" y="3163824"/>
            <a:ext cx="2743200" cy="274320"/>
          </a:xfrm>
          <a:prstGeom prst="rect">
            <a:avLst/>
          </a:prstGeom>
          <a:noFill/>
        </p:spPr>
        <p:txBody>
          <a:bodyPr wrap="square" anchor="t" lIns="25400" rIns="25400" tIns="12700" bIns="12700">
            <a:spAutoFit/>
          </a:bodyPr>
          <a:lstStyle/>
          <a:p>
            <a:pPr algn="ctr"/>
            <a:r>
              <a:rPr sz="900" b="1">
                <a:solidFill>
                  <a:srgbClr val="33312B"/>
                </a:solidFill>
                <a:latin typeface="Apple SD Gothic Neo"/>
              </a:rPr>
              <a:t>presentation</a:t>
            </a:r>
          </a:p>
        </p:txBody>
      </p:sp>
      <p:sp>
        <p:nvSpPr>
          <p:cNvPr id="15" name="TextBox 14"/>
          <p:cNvSpPr txBox="1"/>
          <p:nvPr/>
        </p:nvSpPr>
        <p:spPr>
          <a:xfrm>
            <a:off x="5843016" y="3474720"/>
            <a:ext cx="2121408" cy="274320"/>
          </a:xfrm>
          <a:prstGeom prst="rect">
            <a:avLst/>
          </a:prstGeom>
          <a:noFill/>
        </p:spPr>
        <p:txBody>
          <a:bodyPr wrap="square" anchor="t" lIns="25400" rIns="25400" tIns="12700" bIns="12700">
            <a:spAutoFit/>
          </a:bodyPr>
          <a:lstStyle/>
          <a:p>
            <a:pPr algn="ctr"/>
            <a:r>
              <a:rPr sz="900" b="1">
                <a:solidFill>
                  <a:srgbClr val="33312B"/>
                </a:solidFill>
                <a:latin typeface="Apple SD Gothic Neo"/>
              </a:rPr>
              <a:t>application</a:t>
            </a:r>
          </a:p>
        </p:txBody>
      </p:sp>
      <p:sp>
        <p:nvSpPr>
          <p:cNvPr id="16" name="TextBox 15"/>
          <p:cNvSpPr txBox="1"/>
          <p:nvPr/>
        </p:nvSpPr>
        <p:spPr>
          <a:xfrm>
            <a:off x="6153912" y="3785615"/>
            <a:ext cx="1499616" cy="274320"/>
          </a:xfrm>
          <a:prstGeom prst="rect">
            <a:avLst/>
          </a:prstGeom>
          <a:noFill/>
        </p:spPr>
        <p:txBody>
          <a:bodyPr wrap="square" anchor="t" lIns="25400" rIns="25400" tIns="12700" bIns="12700">
            <a:spAutoFit/>
          </a:bodyPr>
          <a:lstStyle/>
          <a:p>
            <a:pPr algn="ctr"/>
            <a:r>
              <a:rPr sz="900" b="1">
                <a:solidFill>
                  <a:srgbClr val="C2613F"/>
                </a:solidFill>
                <a:latin typeface="Apple SD Gothic Neo"/>
              </a:rPr>
              <a:t>infrastructure</a:t>
            </a:r>
          </a:p>
        </p:txBody>
      </p:sp>
      <p:sp>
        <p:nvSpPr>
          <p:cNvPr id="17" name="TextBox 16"/>
          <p:cNvSpPr txBox="1"/>
          <p:nvPr/>
        </p:nvSpPr>
        <p:spPr>
          <a:xfrm>
            <a:off x="6464808" y="4361688"/>
            <a:ext cx="877824" cy="274320"/>
          </a:xfrm>
          <a:prstGeom prst="rect">
            <a:avLst/>
          </a:prstGeom>
          <a:noFill/>
        </p:spPr>
        <p:txBody>
          <a:bodyPr wrap="square" anchor="t" lIns="25400" rIns="25400" tIns="12700" bIns="12700">
            <a:spAutoFit/>
          </a:bodyPr>
          <a:lstStyle/>
          <a:p>
            <a:pPr algn="ctr"/>
            <a:r>
              <a:rPr sz="1100" b="1">
                <a:solidFill>
                  <a:srgbClr val="FFFFFF"/>
                </a:solidFill>
                <a:latin typeface="Apple SD Gothic Neo"/>
              </a:rPr>
              <a:t>domain</a:t>
            </a:r>
          </a:p>
        </p:txBody>
      </p:sp>
      <p:sp>
        <p:nvSpPr>
          <p:cNvPr id="18" name="TextBox 17"/>
          <p:cNvSpPr txBox="1"/>
          <p:nvPr/>
        </p:nvSpPr>
        <p:spPr>
          <a:xfrm>
            <a:off x="8503920" y="2670048"/>
            <a:ext cx="2926080" cy="292608"/>
          </a:xfrm>
          <a:prstGeom prst="rect">
            <a:avLst/>
          </a:prstGeom>
          <a:noFill/>
        </p:spPr>
        <p:txBody>
          <a:bodyPr wrap="square" anchor="t" lIns="25400" rIns="25400" tIns="12700" bIns="12700">
            <a:spAutoFit/>
          </a:bodyPr>
          <a:lstStyle/>
          <a:p>
            <a:pPr algn="ctr"/>
            <a:r>
              <a:rPr sz="1100" b="1">
                <a:solidFill>
                  <a:srgbClr val="6E6A60"/>
                </a:solidFill>
                <a:latin typeface="Apple SD Gothic Neo"/>
              </a:rPr>
              <a:t>MSA 토폴로지</a:t>
            </a:r>
          </a:p>
        </p:txBody>
      </p:sp>
      <p:sp>
        <p:nvSpPr>
          <p:cNvPr id="19" name="Rounded Rectangle 18"/>
          <p:cNvSpPr/>
          <p:nvPr/>
        </p:nvSpPr>
        <p:spPr>
          <a:xfrm>
            <a:off x="8503920" y="3035808"/>
            <a:ext cx="2926080" cy="457200"/>
          </a:xfrm>
          <a:prstGeom prst="roundRect">
            <a:avLst>
              <a:gd name="adj" fmla="val 14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3035808"/>
            <a:ext cx="2926080" cy="457200"/>
          </a:xfrm>
          <a:prstGeom prst="rect">
            <a:avLst/>
          </a:prstGeom>
          <a:noFill/>
        </p:spPr>
        <p:txBody>
          <a:bodyPr wrap="square" anchor="ctr" lIns="25400" rIns="25400" tIns="12700" bIns="12700">
            <a:spAutoFit/>
          </a:bodyPr>
          <a:lstStyle/>
          <a:p>
            <a:pPr algn="ctr"/>
            <a:r>
              <a:rPr sz="1050" b="1">
                <a:solidFill>
                  <a:srgbClr val="FFFFFF"/>
                </a:solidFill>
                <a:latin typeface="Apple SD Gothic Neo"/>
              </a:rPr>
              <a:t>API Gateway  (JWT 인증·라우팅)</a:t>
            </a:r>
          </a:p>
        </p:txBody>
      </p:sp>
      <p:sp>
        <p:nvSpPr>
          <p:cNvPr id="21" name="Rounded Rectangle 20"/>
          <p:cNvSpPr/>
          <p:nvPr/>
        </p:nvSpPr>
        <p:spPr>
          <a:xfrm>
            <a:off x="8503920" y="3675887"/>
            <a:ext cx="1371600" cy="47548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675887"/>
            <a:ext cx="1371600" cy="47548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User</a:t>
            </a:r>
          </a:p>
        </p:txBody>
      </p:sp>
      <p:sp>
        <p:nvSpPr>
          <p:cNvPr id="23" name="Rounded Rectangle 22"/>
          <p:cNvSpPr/>
          <p:nvPr/>
        </p:nvSpPr>
        <p:spPr>
          <a:xfrm>
            <a:off x="10012680" y="3675887"/>
            <a:ext cx="1371600" cy="47548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12680" y="3675887"/>
            <a:ext cx="1371600" cy="47548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Notification</a:t>
            </a:r>
          </a:p>
        </p:txBody>
      </p:sp>
      <p:sp>
        <p:nvSpPr>
          <p:cNvPr id="25" name="Rounded Rectangle 24"/>
          <p:cNvSpPr/>
          <p:nvPr/>
        </p:nvSpPr>
        <p:spPr>
          <a:xfrm>
            <a:off x="8503920" y="4279392"/>
            <a:ext cx="1371600" cy="47548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4279392"/>
            <a:ext cx="1371600" cy="47548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Delivery</a:t>
            </a:r>
          </a:p>
        </p:txBody>
      </p:sp>
      <p:sp>
        <p:nvSpPr>
          <p:cNvPr id="27" name="Rounded Rectangle 26"/>
          <p:cNvSpPr/>
          <p:nvPr/>
        </p:nvSpPr>
        <p:spPr>
          <a:xfrm>
            <a:off x="10012680" y="4279392"/>
            <a:ext cx="1371600" cy="47548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4279392"/>
            <a:ext cx="1371600" cy="47548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Analytics</a:t>
            </a:r>
          </a:p>
        </p:txBody>
      </p:sp>
      <p:sp>
        <p:nvSpPr>
          <p:cNvPr id="29" name="Rounded Rectangle 28"/>
          <p:cNvSpPr/>
          <p:nvPr/>
        </p:nvSpPr>
        <p:spPr>
          <a:xfrm>
            <a:off x="8503920" y="4882896"/>
            <a:ext cx="1371600" cy="47548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0" y="4882896"/>
            <a:ext cx="1371600" cy="47548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Discovery</a:t>
            </a:r>
          </a:p>
        </p:txBody>
      </p:sp>
      <p:sp>
        <p:nvSpPr>
          <p:cNvPr id="31" name="Rounded Rectangle 30"/>
          <p:cNvSpPr/>
          <p:nvPr/>
        </p:nvSpPr>
        <p:spPr>
          <a:xfrm>
            <a:off x="10012680" y="4882896"/>
            <a:ext cx="1371600" cy="475488"/>
          </a:xfrm>
          <a:prstGeom prst="roundRect">
            <a:avLst>
              <a:gd name="adj" fmla="val 14000"/>
            </a:avLst>
          </a:prstGeom>
          <a:solidFill>
            <a:srgbClr val="F2EFE7"/>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12680" y="4882896"/>
            <a:ext cx="1371600" cy="47548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(Eureka)</a:t>
            </a:r>
          </a:p>
        </p:txBody>
      </p:sp>
      <p:cxnSp>
        <p:nvCxnSpPr>
          <p:cNvPr id="33" name="Connector 32"/>
          <p:cNvCxnSpPr/>
          <p:nvPr/>
        </p:nvCxnSpPr>
        <p:spPr>
          <a:xfrm>
            <a:off x="9966960" y="3493008"/>
            <a:ext cx="0" cy="164592"/>
          </a:xfrm>
          <a:prstGeom prst="line">
            <a:avLst/>
          </a:prstGeom>
          <a:ln w="1778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1551615" y="6446520"/>
            <a:ext cx="365760" cy="274320"/>
          </a:xfrm>
          <a:prstGeom prst="rect">
            <a:avLst/>
          </a:prstGeom>
          <a:noFill/>
        </p:spPr>
        <p:txBody>
          <a:bodyPr wrap="square" anchor="t" lIns="25400" rIns="25400" tIns="12700" bIns="12700">
            <a:spAutoFit/>
          </a:bodyPr>
          <a:lstStyle/>
          <a:p>
            <a:pPr algn="r"/>
            <a:r>
              <a:rPr sz="1000" b="0">
                <a:solidFill>
                  <a:srgbClr val="6E6A60"/>
                </a:solidFill>
                <a:latin typeface="Apple SD Gothic Neo"/>
              </a:rPr>
              <a:t>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01F1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828800"/>
            <a:ext cx="3657600" cy="2011680"/>
          </a:xfrm>
          <a:prstGeom prst="rect">
            <a:avLst/>
          </a:prstGeom>
          <a:noFill/>
        </p:spPr>
        <p:txBody>
          <a:bodyPr wrap="square" anchor="ctr" lIns="25400" rIns="25400" tIns="12700" bIns="12700">
            <a:spAutoFit/>
          </a:bodyPr>
          <a:lstStyle/>
          <a:p>
            <a:pPr algn="l"/>
            <a:r>
              <a:rPr sz="12000" b="1">
                <a:solidFill>
                  <a:srgbClr val="D97757"/>
                </a:solidFill>
                <a:latin typeface="Apple SD Gothic Neo"/>
              </a:rPr>
              <a:t>03</a:t>
            </a:r>
          </a:p>
        </p:txBody>
      </p:sp>
      <p:sp>
        <p:nvSpPr>
          <p:cNvPr id="4" name="TextBox 3"/>
          <p:cNvSpPr txBox="1"/>
          <p:nvPr/>
        </p:nvSpPr>
        <p:spPr>
          <a:xfrm>
            <a:off x="3291840" y="2651760"/>
            <a:ext cx="8229600" cy="1097280"/>
          </a:xfrm>
          <a:prstGeom prst="rect">
            <a:avLst/>
          </a:prstGeom>
          <a:noFill/>
        </p:spPr>
        <p:txBody>
          <a:bodyPr wrap="square" anchor="ctr" lIns="25400" rIns="25400" tIns="12700" bIns="12700">
            <a:spAutoFit/>
          </a:bodyPr>
          <a:lstStyle/>
          <a:p>
            <a:pPr algn="l"/>
            <a:r>
              <a:rPr sz="4000" b="1">
                <a:solidFill>
                  <a:srgbClr val="FFFFFF"/>
                </a:solidFill>
                <a:latin typeface="Apple SD Gothic Neo"/>
              </a:rPr>
              <a:t>핵심 플로우 &amp; 신뢰성</a:t>
            </a:r>
          </a:p>
        </p:txBody>
      </p:sp>
      <p:sp>
        <p:nvSpPr>
          <p:cNvPr id="5" name="Rectangle 4"/>
          <p:cNvSpPr/>
          <p:nvPr/>
        </p:nvSpPr>
        <p:spPr>
          <a:xfrm>
            <a:off x="3337560" y="3794760"/>
            <a:ext cx="2743200" cy="457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0058400" cy="310896"/>
          </a:xfrm>
          <a:prstGeom prst="rect">
            <a:avLst/>
          </a:prstGeom>
          <a:noFill/>
        </p:spPr>
        <p:txBody>
          <a:bodyPr wrap="square" anchor="t" lIns="25400" rIns="25400" tIns="12700" bIns="12700">
            <a:spAutoFit/>
          </a:bodyPr>
          <a:lstStyle/>
          <a:p>
            <a:pPr algn="l"/>
            <a:r>
              <a:rPr sz="1150" b="1">
                <a:solidFill>
                  <a:srgbClr val="C2613F"/>
                </a:solidFill>
                <a:latin typeface="Apple SD Gothic Neo"/>
              </a:rPr>
              <a:t>03 — 핵심 플로우</a:t>
            </a:r>
          </a:p>
        </p:txBody>
      </p:sp>
      <p:sp>
        <p:nvSpPr>
          <p:cNvPr id="4" name="TextBox 3"/>
          <p:cNvSpPr txBox="1"/>
          <p:nvPr/>
        </p:nvSpPr>
        <p:spPr>
          <a:xfrm>
            <a:off x="548640" y="713232"/>
            <a:ext cx="11155680" cy="566928"/>
          </a:xfrm>
          <a:prstGeom prst="rect">
            <a:avLst/>
          </a:prstGeom>
          <a:noFill/>
        </p:spPr>
        <p:txBody>
          <a:bodyPr wrap="square" anchor="t" lIns="25400" rIns="25400" tIns="12700" bIns="12700">
            <a:spAutoFit/>
          </a:bodyPr>
          <a:lstStyle/>
          <a:p>
            <a:pPr algn="l"/>
            <a:r>
              <a:rPr sz="2700" b="1">
                <a:solidFill>
                  <a:srgbClr val="33312B"/>
                </a:solidFill>
                <a:latin typeface="Apple SD Gothic Neo"/>
              </a:rPr>
              <a:t>핵심 플로우 — 이벤트 드리븐</a:t>
            </a:r>
          </a:p>
        </p:txBody>
      </p:sp>
      <p:sp>
        <p:nvSpPr>
          <p:cNvPr id="5" name="Rounded Rectangle 4"/>
          <p:cNvSpPr/>
          <p:nvPr/>
        </p:nvSpPr>
        <p:spPr>
          <a:xfrm>
            <a:off x="566928" y="1481328"/>
            <a:ext cx="11064240" cy="841248"/>
          </a:xfrm>
          <a:prstGeom prst="roundRect">
            <a:avLst>
              <a:gd name="adj" fmla="val 10000"/>
            </a:avLst>
          </a:prstGeom>
          <a:solidFill>
            <a:srgbClr val="F2EFE7"/>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81328"/>
            <a:ext cx="91440" cy="8412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481328"/>
            <a:ext cx="10607040" cy="841248"/>
          </a:xfrm>
          <a:prstGeom prst="rect">
            <a:avLst/>
          </a:prstGeom>
          <a:noFill/>
        </p:spPr>
        <p:txBody>
          <a:bodyPr wrap="square" anchor="ctr">
            <a:spAutoFit/>
          </a:bodyPr>
          <a:lstStyle/>
          <a:p>
            <a:pPr>
              <a:lnSpc>
                <a:spcPct val="110000"/>
              </a:lnSpc>
            </a:pPr>
            <a:r>
              <a:rPr sz="1200" b="1">
                <a:solidFill>
                  <a:srgbClr val="C2613F"/>
                </a:solidFill>
                <a:latin typeface="Apple SD Gothic Neo"/>
              </a:rPr>
              <a:t>핵심   </a:t>
            </a:r>
            <a:r>
              <a:rPr sz="1250" b="1">
                <a:solidFill>
                  <a:srgbClr val="33312B"/>
                </a:solidFill>
                <a:latin typeface="Apple SD Gothic Neo"/>
              </a:rPr>
              <a:t>notification과 delivery result를 Outbox로 저장해, DB commit 뒤에도 Kafka 재발행 경로를 남기는 비동기 파이프라인</a:t>
            </a:r>
          </a:p>
        </p:txBody>
      </p:sp>
      <p:sp>
        <p:nvSpPr>
          <p:cNvPr id="8" name="Rounded Rectangle 7"/>
          <p:cNvSpPr/>
          <p:nvPr/>
        </p:nvSpPr>
        <p:spPr>
          <a:xfrm>
            <a:off x="640080" y="2807208"/>
            <a:ext cx="1143000" cy="713232"/>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807208"/>
            <a:ext cx="1143000" cy="713232"/>
          </a:xfrm>
          <a:prstGeom prst="rect">
            <a:avLst/>
          </a:prstGeom>
          <a:noFill/>
        </p:spPr>
        <p:txBody>
          <a:bodyPr wrap="square" anchor="ctr" lIns="25400" rIns="25400" tIns="12700" bIns="12700">
            <a:spAutoFit/>
          </a:bodyPr>
          <a:lstStyle/>
          <a:p>
            <a:pPr algn="ctr"/>
            <a:r>
              <a:rPr sz="1050" b="1">
                <a:solidFill>
                  <a:srgbClr val="33312B"/>
                </a:solidFill>
                <a:latin typeface="Apple SD Gothic Neo"/>
              </a:rPr>
              <a:t>Client</a:t>
            </a:r>
          </a:p>
        </p:txBody>
      </p:sp>
      <p:sp>
        <p:nvSpPr>
          <p:cNvPr id="10" name="Rounded Rectangle 9"/>
          <p:cNvSpPr/>
          <p:nvPr/>
        </p:nvSpPr>
        <p:spPr>
          <a:xfrm>
            <a:off x="2057400" y="2807208"/>
            <a:ext cx="1234440" cy="713232"/>
          </a:xfrm>
          <a:prstGeom prst="roundRect">
            <a:avLst>
              <a:gd name="adj" fmla="val 14000"/>
            </a:avLst>
          </a:prstGeom>
          <a:solidFill>
            <a:srgbClr val="2C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57400" y="2807208"/>
            <a:ext cx="1234440" cy="713232"/>
          </a:xfrm>
          <a:prstGeom prst="rect">
            <a:avLst/>
          </a:prstGeom>
          <a:noFill/>
        </p:spPr>
        <p:txBody>
          <a:bodyPr wrap="square" anchor="ctr" lIns="25400" rIns="25400" tIns="12700" bIns="12700">
            <a:spAutoFit/>
          </a:bodyPr>
          <a:lstStyle/>
          <a:p>
            <a:pPr algn="ctr"/>
            <a:r>
              <a:rPr sz="1050" b="1">
                <a:solidFill>
                  <a:srgbClr val="FFFFFF"/>
                </a:solidFill>
                <a:latin typeface="Apple SD Gothic Neo"/>
              </a:rPr>
              <a:t>API
Gateway</a:t>
            </a:r>
          </a:p>
        </p:txBody>
      </p:sp>
      <p:sp>
        <p:nvSpPr>
          <p:cNvPr id="12" name="Rounded Rectangle 11"/>
          <p:cNvSpPr/>
          <p:nvPr/>
        </p:nvSpPr>
        <p:spPr>
          <a:xfrm>
            <a:off x="3611880" y="2807208"/>
            <a:ext cx="1417320" cy="713232"/>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807208"/>
            <a:ext cx="1417320" cy="713232"/>
          </a:xfrm>
          <a:prstGeom prst="rect">
            <a:avLst/>
          </a:prstGeom>
          <a:noFill/>
        </p:spPr>
        <p:txBody>
          <a:bodyPr wrap="square" anchor="ctr" lIns="25400" rIns="25400" tIns="12700" bIns="12700">
            <a:spAutoFit/>
          </a:bodyPr>
          <a:lstStyle/>
          <a:p>
            <a:pPr algn="ctr"/>
            <a:r>
              <a:rPr sz="1050" b="1">
                <a:solidFill>
                  <a:srgbClr val="33312B"/>
                </a:solidFill>
                <a:latin typeface="Apple SD Gothic Neo"/>
              </a:rPr>
              <a:t>Notification
접수</a:t>
            </a:r>
          </a:p>
        </p:txBody>
      </p:sp>
      <p:sp>
        <p:nvSpPr>
          <p:cNvPr id="14" name="Can 13"/>
          <p:cNvSpPr/>
          <p:nvPr/>
        </p:nvSpPr>
        <p:spPr>
          <a:xfrm>
            <a:off x="5349240" y="2761488"/>
            <a:ext cx="1280160" cy="804672"/>
          </a:xfrm>
          <a:prstGeom prst="can">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2807208"/>
            <a:ext cx="1280160" cy="274320"/>
          </a:xfrm>
          <a:prstGeom prst="rect">
            <a:avLst/>
          </a:prstGeom>
          <a:noFill/>
        </p:spPr>
        <p:txBody>
          <a:bodyPr wrap="square" anchor="t" lIns="25400" rIns="25400" tIns="12700" bIns="12700">
            <a:spAutoFit/>
          </a:bodyPr>
          <a:lstStyle/>
          <a:p>
            <a:pPr algn="ctr"/>
            <a:r>
              <a:rPr sz="800" b="1">
                <a:solidFill>
                  <a:srgbClr val="FFFFFF"/>
                </a:solidFill>
                <a:latin typeface="Apple SD Gothic Neo"/>
              </a:rPr>
              <a:t>Kafka</a:t>
            </a:r>
          </a:p>
        </p:txBody>
      </p:sp>
      <p:sp>
        <p:nvSpPr>
          <p:cNvPr id="16" name="TextBox 15"/>
          <p:cNvSpPr txBox="1"/>
          <p:nvPr/>
        </p:nvSpPr>
        <p:spPr>
          <a:xfrm>
            <a:off x="5349240" y="3044952"/>
            <a:ext cx="1280160" cy="457200"/>
          </a:xfrm>
          <a:prstGeom prst="rect">
            <a:avLst/>
          </a:prstGeom>
          <a:noFill/>
        </p:spPr>
        <p:txBody>
          <a:bodyPr wrap="square" anchor="ctr" lIns="25400" rIns="25400" tIns="12700" bIns="12700">
            <a:spAutoFit/>
          </a:bodyPr>
          <a:lstStyle/>
          <a:p>
            <a:pPr algn="ctr"/>
            <a:r>
              <a:rPr sz="950" b="1">
                <a:solidFill>
                  <a:srgbClr val="FFFFFF"/>
                </a:solidFill>
                <a:latin typeface="Apple SD Gothic Neo"/>
              </a:rPr>
              <a:t>notifications</a:t>
            </a:r>
          </a:p>
        </p:txBody>
      </p:sp>
      <p:sp>
        <p:nvSpPr>
          <p:cNvPr id="17" name="Rounded Rectangle 16"/>
          <p:cNvSpPr/>
          <p:nvPr/>
        </p:nvSpPr>
        <p:spPr>
          <a:xfrm>
            <a:off x="6995160" y="2807208"/>
            <a:ext cx="1371600" cy="713232"/>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2807208"/>
            <a:ext cx="1371600" cy="713232"/>
          </a:xfrm>
          <a:prstGeom prst="rect">
            <a:avLst/>
          </a:prstGeom>
          <a:noFill/>
        </p:spPr>
        <p:txBody>
          <a:bodyPr wrap="square" anchor="ctr" lIns="25400" rIns="25400" tIns="12700" bIns="12700">
            <a:spAutoFit/>
          </a:bodyPr>
          <a:lstStyle/>
          <a:p>
            <a:pPr algn="ctr"/>
            <a:r>
              <a:rPr sz="1050" b="1">
                <a:solidFill>
                  <a:srgbClr val="33312B"/>
                </a:solidFill>
                <a:latin typeface="Apple SD Gothic Neo"/>
              </a:rPr>
              <a:t>Delivery
발송</a:t>
            </a:r>
          </a:p>
        </p:txBody>
      </p:sp>
      <p:sp>
        <p:nvSpPr>
          <p:cNvPr id="19" name="Can 18"/>
          <p:cNvSpPr/>
          <p:nvPr/>
        </p:nvSpPr>
        <p:spPr>
          <a:xfrm>
            <a:off x="8686800" y="2761488"/>
            <a:ext cx="1280160" cy="804672"/>
          </a:xfrm>
          <a:prstGeom prst="can">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0" y="2807208"/>
            <a:ext cx="1280160" cy="274320"/>
          </a:xfrm>
          <a:prstGeom prst="rect">
            <a:avLst/>
          </a:prstGeom>
          <a:noFill/>
        </p:spPr>
        <p:txBody>
          <a:bodyPr wrap="square" anchor="t" lIns="25400" rIns="25400" tIns="12700" bIns="12700">
            <a:spAutoFit/>
          </a:bodyPr>
          <a:lstStyle/>
          <a:p>
            <a:pPr algn="ctr"/>
            <a:r>
              <a:rPr sz="800" b="1">
                <a:solidFill>
                  <a:srgbClr val="FFFFFF"/>
                </a:solidFill>
                <a:latin typeface="Apple SD Gothic Neo"/>
              </a:rPr>
              <a:t>Kafka</a:t>
            </a:r>
          </a:p>
        </p:txBody>
      </p:sp>
      <p:sp>
        <p:nvSpPr>
          <p:cNvPr id="21" name="TextBox 20"/>
          <p:cNvSpPr txBox="1"/>
          <p:nvPr/>
        </p:nvSpPr>
        <p:spPr>
          <a:xfrm>
            <a:off x="8686800" y="3044952"/>
            <a:ext cx="1280160" cy="457200"/>
          </a:xfrm>
          <a:prstGeom prst="rect">
            <a:avLst/>
          </a:prstGeom>
          <a:noFill/>
        </p:spPr>
        <p:txBody>
          <a:bodyPr wrap="square" anchor="ctr" lIns="25400" rIns="25400" tIns="12700" bIns="12700">
            <a:spAutoFit/>
          </a:bodyPr>
          <a:lstStyle/>
          <a:p>
            <a:pPr algn="ctr"/>
            <a:r>
              <a:rPr sz="950" b="1">
                <a:solidFill>
                  <a:srgbClr val="FFFFFF"/>
                </a:solidFill>
                <a:latin typeface="Apple SD Gothic Neo"/>
              </a:rPr>
              <a:t>delivery-results</a:t>
            </a:r>
          </a:p>
        </p:txBody>
      </p:sp>
      <p:sp>
        <p:nvSpPr>
          <p:cNvPr id="22" name="Rounded Rectangle 21"/>
          <p:cNvSpPr/>
          <p:nvPr/>
        </p:nvSpPr>
        <p:spPr>
          <a:xfrm>
            <a:off x="10332720" y="2807208"/>
            <a:ext cx="1325880" cy="713232"/>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0" y="2807208"/>
            <a:ext cx="1325880" cy="713232"/>
          </a:xfrm>
          <a:prstGeom prst="rect">
            <a:avLst/>
          </a:prstGeom>
          <a:noFill/>
        </p:spPr>
        <p:txBody>
          <a:bodyPr wrap="square" anchor="ctr" lIns="25400" rIns="25400" tIns="12700" bIns="12700">
            <a:spAutoFit/>
          </a:bodyPr>
          <a:lstStyle/>
          <a:p>
            <a:pPr algn="ctr"/>
            <a:r>
              <a:rPr sz="1050" b="1">
                <a:solidFill>
                  <a:srgbClr val="33312B"/>
                </a:solidFill>
                <a:latin typeface="Apple SD Gothic Neo"/>
              </a:rPr>
              <a:t>Analytics
집계</a:t>
            </a:r>
          </a:p>
        </p:txBody>
      </p:sp>
      <p:sp>
        <p:nvSpPr>
          <p:cNvPr id="24" name="Right Arrow 23"/>
          <p:cNvSpPr/>
          <p:nvPr/>
        </p:nvSpPr>
        <p:spPr>
          <a:xfrm>
            <a:off x="1819656" y="3044952"/>
            <a:ext cx="201168" cy="237744"/>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3328416" y="3044952"/>
            <a:ext cx="246888" cy="237744"/>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5065776" y="3044952"/>
            <a:ext cx="246887" cy="237744"/>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6665976" y="3044952"/>
            <a:ext cx="292608" cy="237744"/>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8403336" y="3044952"/>
            <a:ext cx="246887" cy="237744"/>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10003536" y="3044952"/>
            <a:ext cx="292608" cy="237744"/>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11880" y="3630168"/>
            <a:ext cx="2194560" cy="274320"/>
          </a:xfrm>
          <a:prstGeom prst="rect">
            <a:avLst/>
          </a:prstGeom>
          <a:noFill/>
        </p:spPr>
        <p:txBody>
          <a:bodyPr wrap="square" anchor="t" lIns="25400" rIns="25400" tIns="12700" bIns="12700">
            <a:spAutoFit/>
          </a:bodyPr>
          <a:lstStyle/>
          <a:p>
            <a:pPr algn="l"/>
            <a:r>
              <a:rPr sz="950" b="1">
                <a:solidFill>
                  <a:srgbClr val="C2613F"/>
                </a:solidFill>
                <a:latin typeface="Apple SD Gothic Neo"/>
              </a:rPr>
              <a:t>↩ 즉시 PUBLISHED 응답</a:t>
            </a:r>
          </a:p>
        </p:txBody>
      </p:sp>
      <p:sp>
        <p:nvSpPr>
          <p:cNvPr id="31" name="Rounded Rectangle 30"/>
          <p:cNvSpPr/>
          <p:nvPr/>
        </p:nvSpPr>
        <p:spPr>
          <a:xfrm>
            <a:off x="3611880" y="2423160"/>
            <a:ext cx="914400" cy="274320"/>
          </a:xfrm>
          <a:prstGeom prst="roundRect">
            <a:avLst>
              <a:gd name="adj" fmla="val 50000"/>
            </a:avLst>
          </a:prstGeom>
          <a:solidFill>
            <a:srgbClr val="E3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11880" y="2423160"/>
            <a:ext cx="914400" cy="274320"/>
          </a:xfrm>
          <a:prstGeom prst="rect">
            <a:avLst/>
          </a:prstGeom>
          <a:noFill/>
        </p:spPr>
        <p:txBody>
          <a:bodyPr wrap="square" anchor="ctr" lIns="25400" rIns="25400" tIns="12700" bIns="12700">
            <a:spAutoFit/>
          </a:bodyPr>
          <a:lstStyle/>
          <a:p>
            <a:pPr algn="ctr"/>
            <a:r>
              <a:rPr sz="900" b="1">
                <a:solidFill>
                  <a:srgbClr val="5E6B66"/>
                </a:solidFill>
                <a:latin typeface="Apple SD Gothic Neo"/>
              </a:rPr>
              <a:t>MySQL</a:t>
            </a:r>
          </a:p>
        </p:txBody>
      </p:sp>
      <p:sp>
        <p:nvSpPr>
          <p:cNvPr id="33" name="Rounded Rectangle 32"/>
          <p:cNvSpPr/>
          <p:nvPr/>
        </p:nvSpPr>
        <p:spPr>
          <a:xfrm>
            <a:off x="10332720" y="2423160"/>
            <a:ext cx="1325880" cy="274320"/>
          </a:xfrm>
          <a:prstGeom prst="roundRect">
            <a:avLst>
              <a:gd name="adj" fmla="val 50000"/>
            </a:avLst>
          </a:prstGeom>
          <a:solidFill>
            <a:srgbClr val="E3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20" y="2423160"/>
            <a:ext cx="1325880" cy="274320"/>
          </a:xfrm>
          <a:prstGeom prst="rect">
            <a:avLst/>
          </a:prstGeom>
          <a:noFill/>
        </p:spPr>
        <p:txBody>
          <a:bodyPr wrap="square" anchor="ctr" lIns="25400" rIns="25400" tIns="12700" bIns="12700">
            <a:spAutoFit/>
          </a:bodyPr>
          <a:lstStyle/>
          <a:p>
            <a:pPr algn="ctr"/>
            <a:r>
              <a:rPr sz="900" b="1">
                <a:solidFill>
                  <a:srgbClr val="5E6B66"/>
                </a:solidFill>
                <a:latin typeface="Apple SD Gothic Neo"/>
              </a:rPr>
              <a:t>MongoDB · Redis</a:t>
            </a:r>
          </a:p>
        </p:txBody>
      </p:sp>
      <p:sp>
        <p:nvSpPr>
          <p:cNvPr id="35" name="TextBox 34"/>
          <p:cNvSpPr txBox="1"/>
          <p:nvPr/>
        </p:nvSpPr>
        <p:spPr>
          <a:xfrm>
            <a:off x="640080" y="4087368"/>
            <a:ext cx="5394960" cy="1188720"/>
          </a:xfrm>
          <a:prstGeom prst="rect">
            <a:avLst/>
          </a:prstGeom>
          <a:noFill/>
        </p:spPr>
        <p:txBody>
          <a:bodyPr wrap="square" lIns="0" rIns="0">
            <a:spAutoFit/>
          </a:bodyPr>
          <a:lstStyle/>
          <a:p>
            <a:pPr>
              <a:lnSpc>
                <a:spcPct val="112000"/>
              </a:lnSpc>
              <a:spcBef>
                <a:spcPts val="0"/>
              </a:spcBef>
              <a:spcAft>
                <a:spcPts val="0"/>
              </a:spcAft>
            </a:pPr>
            <a:r>
              <a:rPr sz="1150" b="1">
                <a:solidFill>
                  <a:srgbClr val="D97757"/>
                </a:solidFill>
                <a:latin typeface="Apple SD Gothic Neo"/>
              </a:rPr>
              <a:t>▸  </a:t>
            </a:r>
            <a:r>
              <a:rPr sz="1150">
                <a:solidFill>
                  <a:srgbClr val="33312B"/>
                </a:solidFill>
                <a:latin typeface="Apple SD Gothic Neo"/>
              </a:rPr>
              <a:t>접수: 멱등성 체크 → notification outbox와 MySQL 동시 저장 → 즉시 응답</a:t>
            </a:r>
          </a:p>
          <a:p>
            <a:pPr>
              <a:lnSpc>
                <a:spcPct val="112000"/>
              </a:lnSpc>
              <a:spcBef>
                <a:spcPts val="900"/>
              </a:spcBef>
              <a:spcAft>
                <a:spcPts val="0"/>
              </a:spcAft>
            </a:pPr>
            <a:r>
              <a:rPr sz="1150" b="1">
                <a:solidFill>
                  <a:srgbClr val="D97757"/>
                </a:solidFill>
                <a:latin typeface="Apple SD Gothic Neo"/>
              </a:rPr>
              <a:t>▸  </a:t>
            </a:r>
            <a:r>
              <a:rPr sz="1150">
                <a:solidFill>
                  <a:srgbClr val="33312B"/>
                </a:solidFill>
                <a:latin typeface="Apple SD Gothic Neo"/>
              </a:rPr>
              <a:t>발송: pending outbox 발행 → 채널 전송 → delivery result outbox 저장</a:t>
            </a:r>
          </a:p>
        </p:txBody>
      </p:sp>
      <p:sp>
        <p:nvSpPr>
          <p:cNvPr id="36" name="TextBox 35"/>
          <p:cNvSpPr txBox="1"/>
          <p:nvPr/>
        </p:nvSpPr>
        <p:spPr>
          <a:xfrm>
            <a:off x="6263640" y="4087368"/>
            <a:ext cx="5394960" cy="1188720"/>
          </a:xfrm>
          <a:prstGeom prst="rect">
            <a:avLst/>
          </a:prstGeom>
          <a:noFill/>
        </p:spPr>
        <p:txBody>
          <a:bodyPr wrap="square" lIns="0" rIns="0">
            <a:spAutoFit/>
          </a:bodyPr>
          <a:lstStyle/>
          <a:p>
            <a:pPr>
              <a:lnSpc>
                <a:spcPct val="112000"/>
              </a:lnSpc>
              <a:spcBef>
                <a:spcPts val="0"/>
              </a:spcBef>
              <a:spcAft>
                <a:spcPts val="0"/>
              </a:spcAft>
            </a:pPr>
            <a:r>
              <a:rPr sz="1150" b="1">
                <a:solidFill>
                  <a:srgbClr val="D97757"/>
                </a:solidFill>
                <a:latin typeface="Apple SD Gothic Neo"/>
              </a:rPr>
              <a:t>▸  </a:t>
            </a:r>
            <a:r>
              <a:rPr sz="1150">
                <a:solidFill>
                  <a:srgbClr val="33312B"/>
                </a:solidFill>
                <a:latin typeface="Apple SD Gothic Neo"/>
              </a:rPr>
              <a:t>집계: 결과 소비 → MongoDB 일별 통계 + Redis 실시간 카운터</a:t>
            </a:r>
          </a:p>
          <a:p>
            <a:pPr>
              <a:lnSpc>
                <a:spcPct val="112000"/>
              </a:lnSpc>
              <a:spcBef>
                <a:spcPts val="900"/>
              </a:spcBef>
              <a:spcAft>
                <a:spcPts val="0"/>
              </a:spcAft>
            </a:pPr>
            <a:r>
              <a:rPr sz="1150" b="1">
                <a:solidFill>
                  <a:srgbClr val="D97757"/>
                </a:solidFill>
                <a:latin typeface="Apple SD Gothic Neo"/>
              </a:rPr>
              <a:t>▸  </a:t>
            </a:r>
            <a:r>
              <a:rPr sz="1150">
                <a:solidFill>
                  <a:srgbClr val="33312B"/>
                </a:solidFill>
                <a:latin typeface="Apple SD Gothic Neo"/>
              </a:rPr>
              <a:t>Outbox는 at-least-once로 재발행하고, downstream 멱등성으로 중복을 관리</a:t>
            </a:r>
          </a:p>
        </p:txBody>
      </p:sp>
      <p:sp>
        <p:nvSpPr>
          <p:cNvPr id="37" name="TextBox 36"/>
          <p:cNvSpPr txBox="1"/>
          <p:nvPr/>
        </p:nvSpPr>
        <p:spPr>
          <a:xfrm>
            <a:off x="11551615" y="6446520"/>
            <a:ext cx="365760" cy="274320"/>
          </a:xfrm>
          <a:prstGeom prst="rect">
            <a:avLst/>
          </a:prstGeom>
          <a:noFill/>
        </p:spPr>
        <p:txBody>
          <a:bodyPr wrap="square" anchor="t" lIns="25400" rIns="25400" tIns="12700" bIns="12700">
            <a:spAutoFit/>
          </a:bodyPr>
          <a:lstStyle/>
          <a:p>
            <a:pPr algn="r"/>
            <a:r>
              <a:rPr sz="1000" b="0">
                <a:solidFill>
                  <a:srgbClr val="6E6A60"/>
                </a:solidFill>
                <a:latin typeface="Apple SD Gothic Neo"/>
              </a:rPr>
              <a:t>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0058400" cy="310896"/>
          </a:xfrm>
          <a:prstGeom prst="rect">
            <a:avLst/>
          </a:prstGeom>
          <a:noFill/>
        </p:spPr>
        <p:txBody>
          <a:bodyPr wrap="square" anchor="t" lIns="25400" rIns="25400" tIns="12700" bIns="12700">
            <a:spAutoFit/>
          </a:bodyPr>
          <a:lstStyle/>
          <a:p>
            <a:pPr algn="l"/>
            <a:r>
              <a:rPr sz="1150" b="1">
                <a:solidFill>
                  <a:srgbClr val="C2613F"/>
                </a:solidFill>
                <a:latin typeface="Apple SD Gothic Neo"/>
              </a:rPr>
              <a:t>04 — 신뢰성 엔지니어링</a:t>
            </a:r>
          </a:p>
        </p:txBody>
      </p:sp>
      <p:sp>
        <p:nvSpPr>
          <p:cNvPr id="4" name="TextBox 3"/>
          <p:cNvSpPr txBox="1"/>
          <p:nvPr/>
        </p:nvSpPr>
        <p:spPr>
          <a:xfrm>
            <a:off x="548640" y="713232"/>
            <a:ext cx="11155680" cy="566928"/>
          </a:xfrm>
          <a:prstGeom prst="rect">
            <a:avLst/>
          </a:prstGeom>
          <a:noFill/>
        </p:spPr>
        <p:txBody>
          <a:bodyPr wrap="square" anchor="t" lIns="25400" rIns="25400" tIns="12700" bIns="12700">
            <a:spAutoFit/>
          </a:bodyPr>
          <a:lstStyle/>
          <a:p>
            <a:pPr algn="l"/>
            <a:r>
              <a:rPr sz="2700" b="1">
                <a:solidFill>
                  <a:srgbClr val="33312B"/>
                </a:solidFill>
                <a:latin typeface="Apple SD Gothic Neo"/>
              </a:rPr>
              <a:t>신뢰성 엔지니어링</a:t>
            </a:r>
          </a:p>
        </p:txBody>
      </p:sp>
      <p:sp>
        <p:nvSpPr>
          <p:cNvPr id="5" name="Rounded Rectangle 4"/>
          <p:cNvSpPr/>
          <p:nvPr/>
        </p:nvSpPr>
        <p:spPr>
          <a:xfrm>
            <a:off x="566928" y="1481328"/>
            <a:ext cx="11064240" cy="841248"/>
          </a:xfrm>
          <a:prstGeom prst="roundRect">
            <a:avLst>
              <a:gd name="adj" fmla="val 10000"/>
            </a:avLst>
          </a:prstGeom>
          <a:solidFill>
            <a:srgbClr val="F2EFE7"/>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81328"/>
            <a:ext cx="91440" cy="8412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481328"/>
            <a:ext cx="10607040" cy="841248"/>
          </a:xfrm>
          <a:prstGeom prst="rect">
            <a:avLst/>
          </a:prstGeom>
          <a:noFill/>
        </p:spPr>
        <p:txBody>
          <a:bodyPr wrap="square" anchor="ctr">
            <a:spAutoFit/>
          </a:bodyPr>
          <a:lstStyle/>
          <a:p>
            <a:pPr>
              <a:lnSpc>
                <a:spcPct val="110000"/>
              </a:lnSpc>
            </a:pPr>
            <a:r>
              <a:rPr sz="1200" b="1">
                <a:solidFill>
                  <a:srgbClr val="C2613F"/>
                </a:solidFill>
                <a:latin typeface="Apple SD Gothic Neo"/>
              </a:rPr>
              <a:t>핵심   </a:t>
            </a:r>
            <a:r>
              <a:rPr sz="1250" b="1">
                <a:solidFill>
                  <a:srgbClr val="33312B"/>
                </a:solidFill>
                <a:latin typeface="Apple SD Gothic Neo"/>
              </a:rPr>
              <a:t>두 Outbox·멱등성·재시도/DLQ·원자적 집계로 유실 위험을 줄이고 at-least-once 발송을 관리</a:t>
            </a:r>
          </a:p>
        </p:txBody>
      </p:sp>
      <p:sp>
        <p:nvSpPr>
          <p:cNvPr id="8" name="TextBox 7"/>
          <p:cNvSpPr txBox="1"/>
          <p:nvPr/>
        </p:nvSpPr>
        <p:spPr>
          <a:xfrm>
            <a:off x="640080" y="2715768"/>
            <a:ext cx="4572000" cy="3566160"/>
          </a:xfrm>
          <a:prstGeom prst="rect">
            <a:avLst/>
          </a:prstGeom>
          <a:noFill/>
        </p:spPr>
        <p:txBody>
          <a:bodyPr wrap="square" lIns="0" rIns="0">
            <a:spAutoFit/>
          </a:bodyPr>
          <a:lstStyle/>
          <a:p>
            <a:pPr>
              <a:lnSpc>
                <a:spcPct val="112000"/>
              </a:lnSpc>
              <a:spcBef>
                <a:spcPts val="0"/>
              </a:spcBef>
              <a:spcAft>
                <a:spcPts val="0"/>
              </a:spcAft>
            </a:pPr>
            <a:r>
              <a:rPr sz="1250" b="1">
                <a:solidFill>
                  <a:srgbClr val="D97757"/>
                </a:solidFill>
                <a:latin typeface="Apple SD Gothic Neo"/>
              </a:rPr>
              <a:t>▸  </a:t>
            </a:r>
            <a:r>
              <a:rPr sz="1250">
                <a:solidFill>
                  <a:srgbClr val="33312B"/>
                </a:solidFill>
                <a:latin typeface="Apple SD Gothic Neo"/>
              </a:rPr>
              <a:t>트랜잭션 Outbox: notification과 delivery result를 DB 저장과 같은 경계에 기록</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중복 방어: 접수단 Redis 키 + delivery_logs.notification_id unique 제약</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장애 격리: Resilience4j Circuit Breaker(실패율 50% 초과 시 차단)</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최종 실패 보존: 3회 재시도 후 DLQ 격리 + $inc·upsert 원자적 집계</a:t>
            </a:r>
          </a:p>
        </p:txBody>
      </p:sp>
      <p:sp>
        <p:nvSpPr>
          <p:cNvPr id="9" name="TextBox 8"/>
          <p:cNvSpPr txBox="1"/>
          <p:nvPr/>
        </p:nvSpPr>
        <p:spPr>
          <a:xfrm>
            <a:off x="5532120" y="2761488"/>
            <a:ext cx="5943600" cy="292608"/>
          </a:xfrm>
          <a:prstGeom prst="rect">
            <a:avLst/>
          </a:prstGeom>
          <a:noFill/>
        </p:spPr>
        <p:txBody>
          <a:bodyPr wrap="square" anchor="t" lIns="25400" rIns="25400" tIns="12700" bIns="12700">
            <a:spAutoFit/>
          </a:bodyPr>
          <a:lstStyle/>
          <a:p>
            <a:pPr algn="l"/>
            <a:r>
              <a:rPr sz="1100" b="1">
                <a:solidFill>
                  <a:srgbClr val="6E6A60"/>
                </a:solidFill>
                <a:latin typeface="Apple SD Gothic Neo"/>
              </a:rPr>
              <a:t>재시도 → DLQ 격리</a:t>
            </a:r>
          </a:p>
        </p:txBody>
      </p:sp>
      <p:sp>
        <p:nvSpPr>
          <p:cNvPr id="10" name="Rounded Rectangle 9"/>
          <p:cNvSpPr/>
          <p:nvPr/>
        </p:nvSpPr>
        <p:spPr>
          <a:xfrm>
            <a:off x="5532120" y="3145536"/>
            <a:ext cx="1024128" cy="566928"/>
          </a:xfrm>
          <a:prstGeom prst="roundRect">
            <a:avLst>
              <a:gd name="adj" fmla="val 14000"/>
            </a:avLst>
          </a:prstGeom>
          <a:solidFill>
            <a:srgbClr val="F2E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3145536"/>
            <a:ext cx="1024128" cy="56692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발송 실패</a:t>
            </a:r>
          </a:p>
        </p:txBody>
      </p:sp>
      <p:sp>
        <p:nvSpPr>
          <p:cNvPr id="12" name="Right Arrow 11"/>
          <p:cNvSpPr/>
          <p:nvPr/>
        </p:nvSpPr>
        <p:spPr>
          <a:xfrm>
            <a:off x="6565392" y="3337560"/>
            <a:ext cx="146304" cy="182880"/>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720840" y="3145536"/>
            <a:ext cx="1024128" cy="56692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3145536"/>
            <a:ext cx="1024128" cy="56692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retry 1s</a:t>
            </a:r>
          </a:p>
        </p:txBody>
      </p:sp>
      <p:sp>
        <p:nvSpPr>
          <p:cNvPr id="15" name="Right Arrow 14"/>
          <p:cNvSpPr/>
          <p:nvPr/>
        </p:nvSpPr>
        <p:spPr>
          <a:xfrm>
            <a:off x="7754111" y="3337560"/>
            <a:ext cx="146304" cy="182880"/>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09560" y="3145536"/>
            <a:ext cx="1024128" cy="56692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3145536"/>
            <a:ext cx="1024128" cy="56692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retry 2s</a:t>
            </a:r>
          </a:p>
        </p:txBody>
      </p:sp>
      <p:sp>
        <p:nvSpPr>
          <p:cNvPr id="18" name="Right Arrow 17"/>
          <p:cNvSpPr/>
          <p:nvPr/>
        </p:nvSpPr>
        <p:spPr>
          <a:xfrm>
            <a:off x="8942832" y="3337560"/>
            <a:ext cx="146304" cy="182880"/>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98280" y="3145536"/>
            <a:ext cx="1024128" cy="566928"/>
          </a:xfrm>
          <a:prstGeom prst="roundRect">
            <a:avLst>
              <a:gd name="adj" fmla="val 14000"/>
            </a:avLst>
          </a:prstGeom>
          <a:solidFill>
            <a:srgbClr val="FFFFFF"/>
          </a:solidFill>
          <a:ln w="15875">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3145536"/>
            <a:ext cx="1024128" cy="566928"/>
          </a:xfrm>
          <a:prstGeom prst="rect">
            <a:avLst/>
          </a:prstGeom>
          <a:noFill/>
        </p:spPr>
        <p:txBody>
          <a:bodyPr wrap="square" anchor="ctr" lIns="25400" rIns="25400" tIns="12700" bIns="12700">
            <a:spAutoFit/>
          </a:bodyPr>
          <a:lstStyle/>
          <a:p>
            <a:pPr algn="ctr"/>
            <a:r>
              <a:rPr sz="1000" b="1">
                <a:solidFill>
                  <a:srgbClr val="33312B"/>
                </a:solidFill>
                <a:latin typeface="Apple SD Gothic Neo"/>
              </a:rPr>
              <a:t>retry 4s</a:t>
            </a:r>
          </a:p>
        </p:txBody>
      </p:sp>
      <p:sp>
        <p:nvSpPr>
          <p:cNvPr id="21" name="Right Arrow 20"/>
          <p:cNvSpPr/>
          <p:nvPr/>
        </p:nvSpPr>
        <p:spPr>
          <a:xfrm>
            <a:off x="10131552" y="3337560"/>
            <a:ext cx="146304" cy="182880"/>
          </a:xfrm>
          <a:prstGeom prst="rightArrow">
            <a:avLst>
              <a:gd name="adj1" fmla="val 55000"/>
              <a:gd name="adj2" fmla="val 55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287000" y="3145536"/>
            <a:ext cx="1024128" cy="566928"/>
          </a:xfrm>
          <a:prstGeom prst="roundRect">
            <a:avLst>
              <a:gd name="adj" fmla="val 14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87000" y="3145536"/>
            <a:ext cx="1024128" cy="566928"/>
          </a:xfrm>
          <a:prstGeom prst="rect">
            <a:avLst/>
          </a:prstGeom>
          <a:noFill/>
        </p:spPr>
        <p:txBody>
          <a:bodyPr wrap="square" anchor="ctr" lIns="25400" rIns="25400" tIns="12700" bIns="12700">
            <a:spAutoFit/>
          </a:bodyPr>
          <a:lstStyle/>
          <a:p>
            <a:pPr algn="ctr"/>
            <a:r>
              <a:rPr sz="1000" b="1">
                <a:solidFill>
                  <a:srgbClr val="FFFFFF"/>
                </a:solidFill>
                <a:latin typeface="Apple SD Gothic Neo"/>
              </a:rPr>
              <a:t>DLQ</a:t>
            </a:r>
          </a:p>
        </p:txBody>
      </p:sp>
      <p:sp>
        <p:nvSpPr>
          <p:cNvPr id="24" name="TextBox 23"/>
          <p:cNvSpPr txBox="1"/>
          <p:nvPr/>
        </p:nvSpPr>
        <p:spPr>
          <a:xfrm>
            <a:off x="5532120" y="4178808"/>
            <a:ext cx="5943600" cy="292608"/>
          </a:xfrm>
          <a:prstGeom prst="rect">
            <a:avLst/>
          </a:prstGeom>
          <a:noFill/>
        </p:spPr>
        <p:txBody>
          <a:bodyPr wrap="square" anchor="t" lIns="25400" rIns="25400" tIns="12700" bIns="12700">
            <a:spAutoFit/>
          </a:bodyPr>
          <a:lstStyle/>
          <a:p>
            <a:pPr algn="l"/>
            <a:r>
              <a:rPr sz="1100" b="1">
                <a:solidFill>
                  <a:srgbClr val="6E6A60"/>
                </a:solidFill>
                <a:latin typeface="Apple SD Gothic Neo"/>
              </a:rPr>
              <a:t>Circuit Breaker 상태 전이</a:t>
            </a:r>
          </a:p>
        </p:txBody>
      </p:sp>
      <p:sp>
        <p:nvSpPr>
          <p:cNvPr id="25" name="Oval 24"/>
          <p:cNvSpPr/>
          <p:nvPr/>
        </p:nvSpPr>
        <p:spPr>
          <a:xfrm>
            <a:off x="5623559" y="4727448"/>
            <a:ext cx="1234440" cy="1234440"/>
          </a:xfrm>
          <a:prstGeom prst="ellipse">
            <a:avLst/>
          </a:prstGeom>
          <a:solidFill>
            <a:srgbClr val="5E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23559" y="4727448"/>
            <a:ext cx="1234440" cy="1234440"/>
          </a:xfrm>
          <a:prstGeom prst="rect">
            <a:avLst/>
          </a:prstGeom>
          <a:noFill/>
        </p:spPr>
        <p:txBody>
          <a:bodyPr wrap="square" anchor="ctr" lIns="25400" rIns="25400" tIns="12700" bIns="12700">
            <a:spAutoFit/>
          </a:bodyPr>
          <a:lstStyle/>
          <a:p>
            <a:pPr algn="ctr"/>
            <a:r>
              <a:rPr sz="1050" b="1">
                <a:solidFill>
                  <a:srgbClr val="FFFFFF"/>
                </a:solidFill>
                <a:latin typeface="Apple SD Gothic Neo"/>
              </a:rPr>
              <a:t>CLOSED</a:t>
            </a:r>
          </a:p>
        </p:txBody>
      </p:sp>
      <p:sp>
        <p:nvSpPr>
          <p:cNvPr id="27" name="Oval 26"/>
          <p:cNvSpPr/>
          <p:nvPr/>
        </p:nvSpPr>
        <p:spPr>
          <a:xfrm>
            <a:off x="7863840" y="4727448"/>
            <a:ext cx="1234440" cy="12344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0" y="4727448"/>
            <a:ext cx="1234440" cy="1234440"/>
          </a:xfrm>
          <a:prstGeom prst="rect">
            <a:avLst/>
          </a:prstGeom>
          <a:noFill/>
        </p:spPr>
        <p:txBody>
          <a:bodyPr wrap="square" anchor="ctr" lIns="25400" rIns="25400" tIns="12700" bIns="12700">
            <a:spAutoFit/>
          </a:bodyPr>
          <a:lstStyle/>
          <a:p>
            <a:pPr algn="ctr"/>
            <a:r>
              <a:rPr sz="1050" b="1">
                <a:solidFill>
                  <a:srgbClr val="FFFFFF"/>
                </a:solidFill>
                <a:latin typeface="Apple SD Gothic Neo"/>
              </a:rPr>
              <a:t>OPEN</a:t>
            </a:r>
          </a:p>
        </p:txBody>
      </p:sp>
      <p:sp>
        <p:nvSpPr>
          <p:cNvPr id="29" name="Oval 28"/>
          <p:cNvSpPr/>
          <p:nvPr/>
        </p:nvSpPr>
        <p:spPr>
          <a:xfrm>
            <a:off x="10104120" y="4727448"/>
            <a:ext cx="1234440" cy="1234440"/>
          </a:xfrm>
          <a:prstGeom prst="ellipse">
            <a:avLst/>
          </a:prstGeom>
          <a:solidFill>
            <a:srgbClr val="C26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04120" y="4727448"/>
            <a:ext cx="1234440" cy="1234440"/>
          </a:xfrm>
          <a:prstGeom prst="rect">
            <a:avLst/>
          </a:prstGeom>
          <a:noFill/>
        </p:spPr>
        <p:txBody>
          <a:bodyPr wrap="square" anchor="ctr" lIns="25400" rIns="25400" tIns="12700" bIns="12700">
            <a:spAutoFit/>
          </a:bodyPr>
          <a:lstStyle/>
          <a:p>
            <a:pPr algn="ctr"/>
            <a:r>
              <a:rPr sz="1050" b="1">
                <a:solidFill>
                  <a:srgbClr val="FFFFFF"/>
                </a:solidFill>
                <a:latin typeface="Apple SD Gothic Neo"/>
              </a:rPr>
              <a:t>HALF_OPEN</a:t>
            </a:r>
          </a:p>
        </p:txBody>
      </p:sp>
      <p:cxnSp>
        <p:nvCxnSpPr>
          <p:cNvPr id="31" name="Connector 30"/>
          <p:cNvCxnSpPr/>
          <p:nvPr/>
        </p:nvCxnSpPr>
        <p:spPr>
          <a:xfrm>
            <a:off x="6858000" y="5344668"/>
            <a:ext cx="1005840" cy="0"/>
          </a:xfrm>
          <a:prstGeom prst="line">
            <a:avLst/>
          </a:prstGeom>
          <a:ln w="17780">
            <a:solidFill>
              <a:srgbClr val="3331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76288" y="5033772"/>
            <a:ext cx="1005840" cy="274320"/>
          </a:xfrm>
          <a:prstGeom prst="rect">
            <a:avLst/>
          </a:prstGeom>
          <a:noFill/>
        </p:spPr>
        <p:txBody>
          <a:bodyPr wrap="square" anchor="t" lIns="25400" rIns="25400" tIns="12700" bIns="12700">
            <a:spAutoFit/>
          </a:bodyPr>
          <a:lstStyle/>
          <a:p>
            <a:pPr algn="l"/>
            <a:r>
              <a:rPr sz="850" b="0">
                <a:solidFill>
                  <a:srgbClr val="6E6A60"/>
                </a:solidFill>
                <a:latin typeface="Apple SD Gothic Neo"/>
              </a:rPr>
              <a:t>실패율 50%↑</a:t>
            </a:r>
          </a:p>
        </p:txBody>
      </p:sp>
      <p:cxnSp>
        <p:nvCxnSpPr>
          <p:cNvPr id="33" name="Connector 32"/>
          <p:cNvCxnSpPr/>
          <p:nvPr/>
        </p:nvCxnSpPr>
        <p:spPr>
          <a:xfrm>
            <a:off x="9098280" y="5344668"/>
            <a:ext cx="1005840" cy="0"/>
          </a:xfrm>
          <a:prstGeom prst="line">
            <a:avLst/>
          </a:prstGeom>
          <a:ln w="17780">
            <a:solidFill>
              <a:srgbClr val="3331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144000" y="5033772"/>
            <a:ext cx="1005840" cy="274320"/>
          </a:xfrm>
          <a:prstGeom prst="rect">
            <a:avLst/>
          </a:prstGeom>
          <a:noFill/>
        </p:spPr>
        <p:txBody>
          <a:bodyPr wrap="square" anchor="t" lIns="25400" rIns="25400" tIns="12700" bIns="12700">
            <a:spAutoFit/>
          </a:bodyPr>
          <a:lstStyle/>
          <a:p>
            <a:pPr algn="l"/>
            <a:r>
              <a:rPr sz="850" b="0">
                <a:solidFill>
                  <a:srgbClr val="6E6A60"/>
                </a:solidFill>
                <a:latin typeface="Apple SD Gothic Neo"/>
              </a:rPr>
              <a:t>타임아웃 후</a:t>
            </a:r>
          </a:p>
        </p:txBody>
      </p:sp>
      <p:cxnSp>
        <p:nvCxnSpPr>
          <p:cNvPr id="35" name="Connector 34"/>
          <p:cNvCxnSpPr/>
          <p:nvPr/>
        </p:nvCxnSpPr>
        <p:spPr>
          <a:xfrm flipH="1">
            <a:off x="6240779" y="5961888"/>
            <a:ext cx="4480561" cy="0"/>
          </a:xfrm>
          <a:prstGeom prst="line">
            <a:avLst/>
          </a:prstGeom>
          <a:ln w="15240">
            <a:solidFill>
              <a:srgbClr val="5E6B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680960" y="6007607"/>
            <a:ext cx="1463040" cy="274320"/>
          </a:xfrm>
          <a:prstGeom prst="rect">
            <a:avLst/>
          </a:prstGeom>
          <a:noFill/>
        </p:spPr>
        <p:txBody>
          <a:bodyPr wrap="square" anchor="t" lIns="25400" rIns="25400" tIns="12700" bIns="12700">
            <a:spAutoFit/>
          </a:bodyPr>
          <a:lstStyle/>
          <a:p>
            <a:pPr algn="l"/>
            <a:r>
              <a:rPr sz="850" b="0">
                <a:solidFill>
                  <a:srgbClr val="5E6B66"/>
                </a:solidFill>
                <a:latin typeface="Apple SD Gothic Neo"/>
              </a:rPr>
              <a:t>성공 시 복구 →</a:t>
            </a:r>
          </a:p>
        </p:txBody>
      </p:sp>
      <p:sp>
        <p:nvSpPr>
          <p:cNvPr id="37" name="TextBox 36"/>
          <p:cNvSpPr txBox="1"/>
          <p:nvPr/>
        </p:nvSpPr>
        <p:spPr>
          <a:xfrm>
            <a:off x="11551615" y="6446520"/>
            <a:ext cx="365760" cy="274320"/>
          </a:xfrm>
          <a:prstGeom prst="rect">
            <a:avLst/>
          </a:prstGeom>
          <a:noFill/>
        </p:spPr>
        <p:txBody>
          <a:bodyPr wrap="square" anchor="t" lIns="25400" rIns="25400" tIns="12700" bIns="12700">
            <a:spAutoFit/>
          </a:bodyPr>
          <a:lstStyle/>
          <a:p>
            <a:pPr algn="r"/>
            <a:r>
              <a:rPr sz="1000" b="0">
                <a:solidFill>
                  <a:srgbClr val="6E6A60"/>
                </a:solidFill>
                <a:latin typeface="Apple SD Gothic Neo"/>
              </a:rPr>
              <a:t>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01F1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828800"/>
            <a:ext cx="3657600" cy="2011680"/>
          </a:xfrm>
          <a:prstGeom prst="rect">
            <a:avLst/>
          </a:prstGeom>
          <a:noFill/>
        </p:spPr>
        <p:txBody>
          <a:bodyPr wrap="square" anchor="ctr" lIns="25400" rIns="25400" tIns="12700" bIns="12700">
            <a:spAutoFit/>
          </a:bodyPr>
          <a:lstStyle/>
          <a:p>
            <a:pPr algn="l"/>
            <a:r>
              <a:rPr sz="12000" b="1">
                <a:solidFill>
                  <a:srgbClr val="D97757"/>
                </a:solidFill>
                <a:latin typeface="Apple SD Gothic Neo"/>
              </a:rPr>
              <a:t>04</a:t>
            </a:r>
          </a:p>
        </p:txBody>
      </p:sp>
      <p:sp>
        <p:nvSpPr>
          <p:cNvPr id="4" name="TextBox 3"/>
          <p:cNvSpPr txBox="1"/>
          <p:nvPr/>
        </p:nvSpPr>
        <p:spPr>
          <a:xfrm>
            <a:off x="3291840" y="2651760"/>
            <a:ext cx="8229600" cy="1097280"/>
          </a:xfrm>
          <a:prstGeom prst="rect">
            <a:avLst/>
          </a:prstGeom>
          <a:noFill/>
        </p:spPr>
        <p:txBody>
          <a:bodyPr wrap="square" anchor="ctr" lIns="25400" rIns="25400" tIns="12700" bIns="12700">
            <a:spAutoFit/>
          </a:bodyPr>
          <a:lstStyle/>
          <a:p>
            <a:pPr algn="l"/>
            <a:r>
              <a:rPr sz="4000" b="1">
                <a:solidFill>
                  <a:srgbClr val="FFFFFF"/>
                </a:solidFill>
                <a:latin typeface="Apple SD Gothic Neo"/>
              </a:rPr>
              <a:t>운영 &amp; 성과</a:t>
            </a:r>
          </a:p>
        </p:txBody>
      </p:sp>
      <p:sp>
        <p:nvSpPr>
          <p:cNvPr id="5" name="Rectangle 4"/>
          <p:cNvSpPr/>
          <p:nvPr/>
        </p:nvSpPr>
        <p:spPr>
          <a:xfrm>
            <a:off x="3337560" y="3794760"/>
            <a:ext cx="2743200" cy="457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0058400" cy="310896"/>
          </a:xfrm>
          <a:prstGeom prst="rect">
            <a:avLst/>
          </a:prstGeom>
          <a:noFill/>
        </p:spPr>
        <p:txBody>
          <a:bodyPr wrap="square" anchor="t" lIns="25400" rIns="25400" tIns="12700" bIns="12700">
            <a:spAutoFit/>
          </a:bodyPr>
          <a:lstStyle/>
          <a:p>
            <a:pPr algn="l"/>
            <a:r>
              <a:rPr sz="1150" b="1">
                <a:solidFill>
                  <a:srgbClr val="C2613F"/>
                </a:solidFill>
                <a:latin typeface="Apple SD Gothic Neo"/>
              </a:rPr>
              <a:t>05 — 운영 &amp; 품질</a:t>
            </a:r>
          </a:p>
        </p:txBody>
      </p:sp>
      <p:sp>
        <p:nvSpPr>
          <p:cNvPr id="4" name="TextBox 3"/>
          <p:cNvSpPr txBox="1"/>
          <p:nvPr/>
        </p:nvSpPr>
        <p:spPr>
          <a:xfrm>
            <a:off x="548640" y="713232"/>
            <a:ext cx="11155680" cy="566928"/>
          </a:xfrm>
          <a:prstGeom prst="rect">
            <a:avLst/>
          </a:prstGeom>
          <a:noFill/>
        </p:spPr>
        <p:txBody>
          <a:bodyPr wrap="square" anchor="t" lIns="25400" rIns="25400" tIns="12700" bIns="12700">
            <a:spAutoFit/>
          </a:bodyPr>
          <a:lstStyle/>
          <a:p>
            <a:pPr algn="l"/>
            <a:r>
              <a:rPr sz="2700" b="1">
                <a:solidFill>
                  <a:srgbClr val="33312B"/>
                </a:solidFill>
                <a:latin typeface="Apple SD Gothic Neo"/>
              </a:rPr>
              <a:t>운영 &amp; 품질</a:t>
            </a:r>
          </a:p>
        </p:txBody>
      </p:sp>
      <p:sp>
        <p:nvSpPr>
          <p:cNvPr id="5" name="Rounded Rectangle 4"/>
          <p:cNvSpPr/>
          <p:nvPr/>
        </p:nvSpPr>
        <p:spPr>
          <a:xfrm>
            <a:off x="566928" y="1481328"/>
            <a:ext cx="11064240" cy="841248"/>
          </a:xfrm>
          <a:prstGeom prst="roundRect">
            <a:avLst>
              <a:gd name="adj" fmla="val 10000"/>
            </a:avLst>
          </a:prstGeom>
          <a:solidFill>
            <a:srgbClr val="F2EFE7"/>
          </a:solidFill>
          <a:ln w="12700">
            <a:solidFill>
              <a:srgbClr val="E0DA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81328"/>
            <a:ext cx="91440" cy="8412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481328"/>
            <a:ext cx="10607040" cy="841248"/>
          </a:xfrm>
          <a:prstGeom prst="rect">
            <a:avLst/>
          </a:prstGeom>
          <a:noFill/>
        </p:spPr>
        <p:txBody>
          <a:bodyPr wrap="square" anchor="ctr">
            <a:spAutoFit/>
          </a:bodyPr>
          <a:lstStyle/>
          <a:p>
            <a:pPr>
              <a:lnSpc>
                <a:spcPct val="110000"/>
              </a:lnSpc>
            </a:pPr>
            <a:r>
              <a:rPr sz="1200" b="1">
                <a:solidFill>
                  <a:srgbClr val="C2613F"/>
                </a:solidFill>
                <a:latin typeface="Apple SD Gothic Neo"/>
              </a:rPr>
              <a:t>핵심   </a:t>
            </a:r>
            <a:r>
              <a:rPr sz="1250" b="1">
                <a:solidFill>
                  <a:srgbClr val="33312B"/>
                </a:solidFill>
                <a:latin typeface="Apple SD Gothic Neo"/>
              </a:rPr>
              <a:t>Outbox backlog·발행 실패 지표, release gate, 백업·복구 리허설을 운영 증적으로 관리</a:t>
            </a:r>
          </a:p>
        </p:txBody>
      </p:sp>
      <p:sp>
        <p:nvSpPr>
          <p:cNvPr id="8" name="TextBox 7"/>
          <p:cNvSpPr txBox="1"/>
          <p:nvPr/>
        </p:nvSpPr>
        <p:spPr>
          <a:xfrm>
            <a:off x="640080" y="2715768"/>
            <a:ext cx="4937760" cy="3566160"/>
          </a:xfrm>
          <a:prstGeom prst="rect">
            <a:avLst/>
          </a:prstGeom>
          <a:noFill/>
        </p:spPr>
        <p:txBody>
          <a:bodyPr wrap="square" lIns="0" rIns="0">
            <a:spAutoFit/>
          </a:bodyPr>
          <a:lstStyle/>
          <a:p>
            <a:pPr>
              <a:lnSpc>
                <a:spcPct val="112000"/>
              </a:lnSpc>
              <a:spcBef>
                <a:spcPts val="0"/>
              </a:spcBef>
              <a:spcAft>
                <a:spcPts val="0"/>
              </a:spcAft>
            </a:pPr>
            <a:r>
              <a:rPr sz="1250" b="1">
                <a:solidFill>
                  <a:srgbClr val="D97757"/>
                </a:solidFill>
                <a:latin typeface="Apple SD Gothic Neo"/>
              </a:rPr>
              <a:t>▸  </a:t>
            </a:r>
            <a:r>
              <a:rPr sz="1250">
                <a:solidFill>
                  <a:srgbClr val="33312B"/>
                </a:solidFill>
                <a:latin typeface="Apple SD Gothic Neo"/>
              </a:rPr>
              <a:t>관측성: Prometheus/Grafana로 두 Outbox backlog·발행 실패, 5xx, Lag 추적</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출시 게이트: 정적 CI 검사와 live rollout·TLS·NetworkPolicy 검증 경로 분리</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복구: 격리 Compose backup 6초, clean restore 17초로 RPO/RTO 측정</a:t>
            </a:r>
          </a:p>
          <a:p>
            <a:pPr>
              <a:lnSpc>
                <a:spcPct val="112000"/>
              </a:lnSpc>
              <a:spcBef>
                <a:spcPts val="1200"/>
              </a:spcBef>
              <a:spcAft>
                <a:spcPts val="0"/>
              </a:spcAft>
            </a:pPr>
            <a:r>
              <a:rPr sz="1250" b="1">
                <a:solidFill>
                  <a:srgbClr val="D97757"/>
                </a:solidFill>
                <a:latin typeface="Apple SD Gothic Neo"/>
              </a:rPr>
              <a:t>▸  </a:t>
            </a:r>
            <a:r>
              <a:rPr sz="1250">
                <a:solidFill>
                  <a:srgbClr val="33312B"/>
                </a:solidFill>
                <a:latin typeface="Apple SD Gothic Neo"/>
              </a:rPr>
              <a:t>테스트: Maven 10모듈과 Testcontainers E2E로 메시지 흐름 검증</a:t>
            </a:r>
          </a:p>
        </p:txBody>
      </p:sp>
      <p:sp>
        <p:nvSpPr>
          <p:cNvPr id="9" name="TextBox 8"/>
          <p:cNvSpPr txBox="1"/>
          <p:nvPr/>
        </p:nvSpPr>
        <p:spPr>
          <a:xfrm>
            <a:off x="5852160" y="2624327"/>
            <a:ext cx="5760720" cy="310896"/>
          </a:xfrm>
          <a:prstGeom prst="rect">
            <a:avLst/>
          </a:prstGeom>
          <a:noFill/>
        </p:spPr>
        <p:txBody>
          <a:bodyPr wrap="square" anchor="t" lIns="25400" rIns="25400" tIns="12700" bIns="12700">
            <a:spAutoFit/>
          </a:bodyPr>
          <a:lstStyle/>
          <a:p>
            <a:pPr algn="ctr"/>
            <a:r>
              <a:rPr sz="1200" b="1">
                <a:solidFill>
                  <a:srgbClr val="33312B"/>
                </a:solidFill>
                <a:latin typeface="Apple SD Gothic Neo"/>
              </a:rPr>
              <a:t>계층별 테스트 커버리지 (%)</a:t>
            </a:r>
          </a:p>
        </p:txBody>
      </p:sp>
      <p:graphicFrame>
        <p:nvGraphicFramePr>
          <p:cNvPr id="10" name="Chart 9"/>
          <p:cNvGraphicFramePr>
            <a:graphicFrameLocks noGrp="1"/>
          </p:cNvGraphicFramePr>
          <p:nvPr/>
        </p:nvGraphicFramePr>
        <p:xfrm>
          <a:off x="5852160" y="2990087"/>
          <a:ext cx="5760720" cy="3017520"/>
        </p:xfrm>
        <a:graphic>
          <a:graphicData uri="http://schemas.openxmlformats.org/drawingml/2006/chart">
            <c:chart xmlns:c="http://schemas.openxmlformats.org/drawingml/2006/chart" r:id="rId2"/>
          </a:graphicData>
        </a:graphic>
      </p:graphicFrame>
      <p:sp>
        <p:nvSpPr>
          <p:cNvPr id="11" name="TextBox 10"/>
          <p:cNvSpPr txBox="1"/>
          <p:nvPr/>
        </p:nvSpPr>
        <p:spPr>
          <a:xfrm>
            <a:off x="11551615" y="6446520"/>
            <a:ext cx="365760" cy="274320"/>
          </a:xfrm>
          <a:prstGeom prst="rect">
            <a:avLst/>
          </a:prstGeom>
          <a:noFill/>
        </p:spPr>
        <p:txBody>
          <a:bodyPr wrap="square" anchor="t" lIns="25400" rIns="25400" tIns="12700" bIns="12700">
            <a:spAutoFit/>
          </a:bodyPr>
          <a:lstStyle/>
          <a:p>
            <a:pPr algn="r"/>
            <a:r>
              <a:rPr sz="1000" b="0">
                <a:solidFill>
                  <a:srgbClr val="6E6A60"/>
                </a:solidFill>
                <a:latin typeface="Apple SD Gothic Neo"/>
              </a:rPr>
              <a:t>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01F1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5486400" cy="365760"/>
          </a:xfrm>
          <a:prstGeom prst="rect">
            <a:avLst/>
          </a:prstGeom>
          <a:noFill/>
        </p:spPr>
        <p:txBody>
          <a:bodyPr wrap="square" anchor="t" lIns="25400" rIns="25400" tIns="12700" bIns="12700">
            <a:spAutoFit/>
          </a:bodyPr>
          <a:lstStyle/>
          <a:p>
            <a:pPr algn="l"/>
            <a:r>
              <a:rPr sz="1300" b="1">
                <a:solidFill>
                  <a:srgbClr val="D97757"/>
                </a:solidFill>
                <a:latin typeface="Apple SD Gothic Neo"/>
              </a:rPr>
              <a:t>SO WHAT</a:t>
            </a:r>
          </a:p>
        </p:txBody>
      </p:sp>
      <p:sp>
        <p:nvSpPr>
          <p:cNvPr id="4" name="TextBox 3"/>
          <p:cNvSpPr txBox="1"/>
          <p:nvPr/>
        </p:nvSpPr>
        <p:spPr>
          <a:xfrm>
            <a:off x="621792" y="960120"/>
            <a:ext cx="10058400" cy="731520"/>
          </a:xfrm>
          <a:prstGeom prst="rect">
            <a:avLst/>
          </a:prstGeom>
          <a:noFill/>
        </p:spPr>
        <p:txBody>
          <a:bodyPr wrap="square" anchor="t" lIns="25400" rIns="25400" tIns="12700" bIns="12700">
            <a:spAutoFit/>
          </a:bodyPr>
          <a:lstStyle/>
          <a:p>
            <a:pPr algn="l"/>
            <a:r>
              <a:rPr sz="3200" b="1">
                <a:solidFill>
                  <a:srgbClr val="FFFFFF"/>
                </a:solidFill>
                <a:latin typeface="Apple SD Gothic Neo"/>
              </a:rPr>
              <a:t>성과 요약 &amp; 배운 점</a:t>
            </a:r>
          </a:p>
        </p:txBody>
      </p:sp>
      <p:sp>
        <p:nvSpPr>
          <p:cNvPr id="5" name="Oval 4"/>
          <p:cNvSpPr/>
          <p:nvPr/>
        </p:nvSpPr>
        <p:spPr>
          <a:xfrm>
            <a:off x="658368" y="2157984"/>
            <a:ext cx="310896" cy="3108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139696"/>
            <a:ext cx="310896" cy="310896"/>
          </a:xfrm>
          <a:prstGeom prst="rect">
            <a:avLst/>
          </a:prstGeom>
          <a:noFill/>
        </p:spPr>
        <p:txBody>
          <a:bodyPr wrap="square" anchor="ctr" lIns="25400" rIns="25400" tIns="12700" bIns="12700">
            <a:spAutoFit/>
          </a:bodyPr>
          <a:lstStyle/>
          <a:p>
            <a:pPr algn="ctr"/>
            <a:r>
              <a:rPr sz="1300" b="1">
                <a:solidFill>
                  <a:srgbClr val="FFFFFF"/>
                </a:solidFill>
                <a:latin typeface="Apple SD Gothic Neo"/>
              </a:rPr>
              <a:t>✓</a:t>
            </a:r>
          </a:p>
        </p:txBody>
      </p:sp>
      <p:sp>
        <p:nvSpPr>
          <p:cNvPr id="7" name="TextBox 6"/>
          <p:cNvSpPr txBox="1"/>
          <p:nvPr/>
        </p:nvSpPr>
        <p:spPr>
          <a:xfrm>
            <a:off x="1188720" y="2103120"/>
            <a:ext cx="1828800" cy="411480"/>
          </a:xfrm>
          <a:prstGeom prst="rect">
            <a:avLst/>
          </a:prstGeom>
          <a:noFill/>
        </p:spPr>
        <p:txBody>
          <a:bodyPr wrap="square" anchor="ctr" lIns="25400" rIns="25400" tIns="12700" bIns="12700">
            <a:spAutoFit/>
          </a:bodyPr>
          <a:lstStyle/>
          <a:p>
            <a:pPr algn="l"/>
            <a:r>
              <a:rPr sz="1500" b="1">
                <a:solidFill>
                  <a:srgbClr val="D97757"/>
                </a:solidFill>
                <a:latin typeface="Apple SD Gothic Neo"/>
              </a:rPr>
              <a:t>성과</a:t>
            </a:r>
          </a:p>
        </p:txBody>
      </p:sp>
      <p:sp>
        <p:nvSpPr>
          <p:cNvPr id="8" name="TextBox 7"/>
          <p:cNvSpPr txBox="1"/>
          <p:nvPr/>
        </p:nvSpPr>
        <p:spPr>
          <a:xfrm>
            <a:off x="2743200" y="2075688"/>
            <a:ext cx="8778240" cy="502920"/>
          </a:xfrm>
          <a:prstGeom prst="rect">
            <a:avLst/>
          </a:prstGeom>
          <a:noFill/>
        </p:spPr>
        <p:txBody>
          <a:bodyPr wrap="square" anchor="ctr" lIns="25400" rIns="25400" tIns="12700" bIns="12700">
            <a:spAutoFit/>
          </a:bodyPr>
          <a:lstStyle/>
          <a:p>
            <a:pPr algn="l"/>
            <a:r>
              <a:rPr sz="1350" b="0">
                <a:solidFill>
                  <a:srgbClr val="E6E2D8"/>
                </a:solidFill>
                <a:latin typeface="Apple SD Gothic Neo"/>
              </a:rPr>
              <a:t>Clean Architecture + Event-Driven MSA로 확장·교체·테스트가 용이한 알림 플랫폼 설계·구현</a:t>
            </a:r>
          </a:p>
        </p:txBody>
      </p:sp>
      <p:sp>
        <p:nvSpPr>
          <p:cNvPr id="9" name="Oval 8"/>
          <p:cNvSpPr/>
          <p:nvPr/>
        </p:nvSpPr>
        <p:spPr>
          <a:xfrm>
            <a:off x="658368" y="2999232"/>
            <a:ext cx="310896" cy="3108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980944"/>
            <a:ext cx="310896" cy="310896"/>
          </a:xfrm>
          <a:prstGeom prst="rect">
            <a:avLst/>
          </a:prstGeom>
          <a:noFill/>
        </p:spPr>
        <p:txBody>
          <a:bodyPr wrap="square" anchor="ctr" lIns="25400" rIns="25400" tIns="12700" bIns="12700">
            <a:spAutoFit/>
          </a:bodyPr>
          <a:lstStyle/>
          <a:p>
            <a:pPr algn="ctr"/>
            <a:r>
              <a:rPr sz="1300" b="1">
                <a:solidFill>
                  <a:srgbClr val="FFFFFF"/>
                </a:solidFill>
                <a:latin typeface="Apple SD Gothic Neo"/>
              </a:rPr>
              <a:t>✓</a:t>
            </a:r>
          </a:p>
        </p:txBody>
      </p:sp>
      <p:sp>
        <p:nvSpPr>
          <p:cNvPr id="11" name="TextBox 10"/>
          <p:cNvSpPr txBox="1"/>
          <p:nvPr/>
        </p:nvSpPr>
        <p:spPr>
          <a:xfrm>
            <a:off x="1188720" y="2944368"/>
            <a:ext cx="1828800" cy="411480"/>
          </a:xfrm>
          <a:prstGeom prst="rect">
            <a:avLst/>
          </a:prstGeom>
          <a:noFill/>
        </p:spPr>
        <p:txBody>
          <a:bodyPr wrap="square" anchor="ctr" lIns="25400" rIns="25400" tIns="12700" bIns="12700">
            <a:spAutoFit/>
          </a:bodyPr>
          <a:lstStyle/>
          <a:p>
            <a:pPr algn="l"/>
            <a:r>
              <a:rPr sz="1500" b="1">
                <a:solidFill>
                  <a:srgbClr val="D97757"/>
                </a:solidFill>
                <a:latin typeface="Apple SD Gothic Neo"/>
              </a:rPr>
              <a:t>기술 학습</a:t>
            </a:r>
          </a:p>
        </p:txBody>
      </p:sp>
      <p:sp>
        <p:nvSpPr>
          <p:cNvPr id="12" name="TextBox 11"/>
          <p:cNvSpPr txBox="1"/>
          <p:nvPr/>
        </p:nvSpPr>
        <p:spPr>
          <a:xfrm>
            <a:off x="2743200" y="2916936"/>
            <a:ext cx="8778240" cy="502920"/>
          </a:xfrm>
          <a:prstGeom prst="rect">
            <a:avLst/>
          </a:prstGeom>
          <a:noFill/>
        </p:spPr>
        <p:txBody>
          <a:bodyPr wrap="square" anchor="ctr" lIns="25400" rIns="25400" tIns="12700" bIns="12700">
            <a:spAutoFit/>
          </a:bodyPr>
          <a:lstStyle/>
          <a:p>
            <a:pPr algn="l"/>
            <a:r>
              <a:rPr sz="1350" b="0">
                <a:solidFill>
                  <a:srgbClr val="E6E2D8"/>
                </a:solidFill>
                <a:latin typeface="Apple SD Gothic Neo"/>
              </a:rPr>
              <a:t>notification·delivery result Outbox, 멱등성, 재시도/DLQ로 at-least-once 흐름 관리</a:t>
            </a:r>
          </a:p>
        </p:txBody>
      </p:sp>
      <p:sp>
        <p:nvSpPr>
          <p:cNvPr id="13" name="Oval 12"/>
          <p:cNvSpPr/>
          <p:nvPr/>
        </p:nvSpPr>
        <p:spPr>
          <a:xfrm>
            <a:off x="658368" y="3840479"/>
            <a:ext cx="310896" cy="3108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822191"/>
            <a:ext cx="310896" cy="310896"/>
          </a:xfrm>
          <a:prstGeom prst="rect">
            <a:avLst/>
          </a:prstGeom>
          <a:noFill/>
        </p:spPr>
        <p:txBody>
          <a:bodyPr wrap="square" anchor="ctr" lIns="25400" rIns="25400" tIns="12700" bIns="12700">
            <a:spAutoFit/>
          </a:bodyPr>
          <a:lstStyle/>
          <a:p>
            <a:pPr algn="ctr"/>
            <a:r>
              <a:rPr sz="1300" b="1">
                <a:solidFill>
                  <a:srgbClr val="FFFFFF"/>
                </a:solidFill>
                <a:latin typeface="Apple SD Gothic Neo"/>
              </a:rPr>
              <a:t>✓</a:t>
            </a:r>
          </a:p>
        </p:txBody>
      </p:sp>
      <p:sp>
        <p:nvSpPr>
          <p:cNvPr id="15" name="TextBox 14"/>
          <p:cNvSpPr txBox="1"/>
          <p:nvPr/>
        </p:nvSpPr>
        <p:spPr>
          <a:xfrm>
            <a:off x="1188720" y="3785615"/>
            <a:ext cx="1828800" cy="411480"/>
          </a:xfrm>
          <a:prstGeom prst="rect">
            <a:avLst/>
          </a:prstGeom>
          <a:noFill/>
        </p:spPr>
        <p:txBody>
          <a:bodyPr wrap="square" anchor="ctr" lIns="25400" rIns="25400" tIns="12700" bIns="12700">
            <a:spAutoFit/>
          </a:bodyPr>
          <a:lstStyle/>
          <a:p>
            <a:pPr algn="l"/>
            <a:r>
              <a:rPr sz="1500" b="1">
                <a:solidFill>
                  <a:srgbClr val="D97757"/>
                </a:solidFill>
                <a:latin typeface="Apple SD Gothic Neo"/>
              </a:rPr>
              <a:t>운영 학습</a:t>
            </a:r>
          </a:p>
        </p:txBody>
      </p:sp>
      <p:sp>
        <p:nvSpPr>
          <p:cNvPr id="16" name="TextBox 15"/>
          <p:cNvSpPr txBox="1"/>
          <p:nvPr/>
        </p:nvSpPr>
        <p:spPr>
          <a:xfrm>
            <a:off x="2743200" y="3758183"/>
            <a:ext cx="8778240" cy="502920"/>
          </a:xfrm>
          <a:prstGeom prst="rect">
            <a:avLst/>
          </a:prstGeom>
          <a:noFill/>
        </p:spPr>
        <p:txBody>
          <a:bodyPr wrap="square" anchor="ctr" lIns="25400" rIns="25400" tIns="12700" bIns="12700">
            <a:spAutoFit/>
          </a:bodyPr>
          <a:lstStyle/>
          <a:p>
            <a:pPr algn="l"/>
            <a:r>
              <a:rPr sz="1350" b="0">
                <a:solidFill>
                  <a:srgbClr val="E6E2D8"/>
                </a:solidFill>
                <a:latin typeface="Apple SD Gothic Neo"/>
              </a:rPr>
              <a:t>Outbox 지표, release gate, 6초 backup과 17초 clean restore로 운영 증적 축적</a:t>
            </a:r>
          </a:p>
        </p:txBody>
      </p:sp>
      <p:sp>
        <p:nvSpPr>
          <p:cNvPr id="17" name="Oval 16"/>
          <p:cNvSpPr/>
          <p:nvPr/>
        </p:nvSpPr>
        <p:spPr>
          <a:xfrm>
            <a:off x="658368" y="4681728"/>
            <a:ext cx="310896" cy="3108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663440"/>
            <a:ext cx="310896" cy="310896"/>
          </a:xfrm>
          <a:prstGeom prst="rect">
            <a:avLst/>
          </a:prstGeom>
          <a:noFill/>
        </p:spPr>
        <p:txBody>
          <a:bodyPr wrap="square" anchor="ctr" lIns="25400" rIns="25400" tIns="12700" bIns="12700">
            <a:spAutoFit/>
          </a:bodyPr>
          <a:lstStyle/>
          <a:p>
            <a:pPr algn="ctr"/>
            <a:r>
              <a:rPr sz="1300" b="1">
                <a:solidFill>
                  <a:srgbClr val="FFFFFF"/>
                </a:solidFill>
                <a:latin typeface="Apple SD Gothic Neo"/>
              </a:rPr>
              <a:t>✓</a:t>
            </a:r>
          </a:p>
        </p:txBody>
      </p:sp>
      <p:sp>
        <p:nvSpPr>
          <p:cNvPr id="19" name="TextBox 18"/>
          <p:cNvSpPr txBox="1"/>
          <p:nvPr/>
        </p:nvSpPr>
        <p:spPr>
          <a:xfrm>
            <a:off x="1188720" y="4626864"/>
            <a:ext cx="1828800" cy="411480"/>
          </a:xfrm>
          <a:prstGeom prst="rect">
            <a:avLst/>
          </a:prstGeom>
          <a:noFill/>
        </p:spPr>
        <p:txBody>
          <a:bodyPr wrap="square" anchor="ctr" lIns="25400" rIns="25400" tIns="12700" bIns="12700">
            <a:spAutoFit/>
          </a:bodyPr>
          <a:lstStyle/>
          <a:p>
            <a:pPr algn="l"/>
            <a:r>
              <a:rPr sz="1500" b="1">
                <a:solidFill>
                  <a:srgbClr val="D97757"/>
                </a:solidFill>
                <a:latin typeface="Apple SD Gothic Neo"/>
              </a:rPr>
              <a:t>다음 단계</a:t>
            </a:r>
          </a:p>
        </p:txBody>
      </p:sp>
      <p:sp>
        <p:nvSpPr>
          <p:cNvPr id="20" name="TextBox 19"/>
          <p:cNvSpPr txBox="1"/>
          <p:nvPr/>
        </p:nvSpPr>
        <p:spPr>
          <a:xfrm>
            <a:off x="2743200" y="4599432"/>
            <a:ext cx="8778240" cy="502920"/>
          </a:xfrm>
          <a:prstGeom prst="rect">
            <a:avLst/>
          </a:prstGeom>
          <a:noFill/>
        </p:spPr>
        <p:txBody>
          <a:bodyPr wrap="square" anchor="ctr" lIns="25400" rIns="25400" tIns="12700" bIns="12700">
            <a:spAutoFit/>
          </a:bodyPr>
          <a:lstStyle/>
          <a:p>
            <a:pPr algn="l"/>
            <a:r>
              <a:rPr sz="1350" b="0">
                <a:solidFill>
                  <a:srgbClr val="E6E2D8"/>
                </a:solidFill>
                <a:latin typeface="Apple SD Gothic Neo"/>
              </a:rPr>
              <a:t>Twilio 실제 발송, iOS FCM/APNs, production release smoke와 rollback 증적</a:t>
            </a:r>
          </a:p>
        </p:txBody>
      </p:sp>
      <p:sp>
        <p:nvSpPr>
          <p:cNvPr id="21" name="Rounded Rectangle 20"/>
          <p:cNvSpPr/>
          <p:nvPr/>
        </p:nvSpPr>
        <p:spPr>
          <a:xfrm>
            <a:off x="640080" y="5806440"/>
            <a:ext cx="10927080" cy="566928"/>
          </a:xfrm>
          <a:prstGeom prst="roundRect">
            <a:avLst>
              <a:gd name="adj" fmla="val 20000"/>
            </a:avLst>
          </a:prstGeom>
          <a:solidFill>
            <a:srgbClr val="2C2A24"/>
          </a:solid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806440"/>
            <a:ext cx="10607040" cy="566928"/>
          </a:xfrm>
          <a:prstGeom prst="rect">
            <a:avLst/>
          </a:prstGeom>
          <a:noFill/>
        </p:spPr>
        <p:txBody>
          <a:bodyPr wrap="square" anchor="ctr" lIns="25400" rIns="25400" tIns="12700" bIns="12700">
            <a:spAutoFit/>
          </a:bodyPr>
          <a:lstStyle/>
          <a:p>
            <a:pPr algn="l"/>
            <a:r>
              <a:rPr sz="1250" b="1">
                <a:solidFill>
                  <a:srgbClr val="ECE8DE"/>
                </a:solidFill>
                <a:latin typeface="Apple SD Gothic Neo"/>
              </a:rPr>
              <a:t>GitHub 저장소와 설계 문서(README · kafka-redis.md)로 코드와 의사결정 과정을 확인하실 수 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01F1B"/>
        </a:solidFill>
        <a:effectLst/>
      </p:bgPr>
    </p:bg>
    <p:spTree>
      <p:nvGrpSpPr>
        <p:cNvPr id="1" name=""/>
        <p:cNvGrpSpPr/>
        <p:nvPr/>
      </p:nvGrpSpPr>
      <p:grpSpPr/>
      <p:sp>
        <p:nvSpPr>
          <p:cNvPr id="2" name="Rectangle 1"/>
          <p:cNvSpPr/>
          <p:nvPr/>
        </p:nvSpPr>
        <p:spPr>
          <a:xfrm>
            <a:off x="0" y="6446520"/>
            <a:ext cx="12191695" cy="411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272887" y="1783080"/>
            <a:ext cx="1645920" cy="164592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272887" y="1737360"/>
            <a:ext cx="1645920" cy="1645920"/>
          </a:xfrm>
          <a:prstGeom prst="rect">
            <a:avLst/>
          </a:prstGeom>
          <a:noFill/>
        </p:spPr>
        <p:txBody>
          <a:bodyPr wrap="square" anchor="ctr" lIns="25400" rIns="25400" tIns="12700" bIns="12700">
            <a:spAutoFit/>
          </a:bodyPr>
          <a:lstStyle/>
          <a:p>
            <a:pPr algn="ctr"/>
            <a:r>
              <a:rPr sz="8000" b="1">
                <a:solidFill>
                  <a:srgbClr val="FFFFFF"/>
                </a:solidFill>
                <a:latin typeface="Apple SD Gothic Neo"/>
              </a:rPr>
              <a:t>?</a:t>
            </a:r>
          </a:p>
        </p:txBody>
      </p:sp>
      <p:sp>
        <p:nvSpPr>
          <p:cNvPr id="5" name="TextBox 4"/>
          <p:cNvSpPr txBox="1"/>
          <p:nvPr/>
        </p:nvSpPr>
        <p:spPr>
          <a:xfrm>
            <a:off x="0" y="3611880"/>
            <a:ext cx="12191695" cy="914400"/>
          </a:xfrm>
          <a:prstGeom prst="rect">
            <a:avLst/>
          </a:prstGeom>
          <a:noFill/>
        </p:spPr>
        <p:txBody>
          <a:bodyPr wrap="square" anchor="t" lIns="25400" rIns="25400" tIns="12700" bIns="12700">
            <a:spAutoFit/>
          </a:bodyPr>
          <a:lstStyle/>
          <a:p>
            <a:pPr algn="ctr"/>
            <a:r>
              <a:rPr sz="4600" b="1">
                <a:solidFill>
                  <a:srgbClr val="FFFFFF"/>
                </a:solidFill>
                <a:latin typeface="Apple SD Gothic Neo"/>
              </a:rPr>
              <a:t>Q &amp; A</a:t>
            </a:r>
          </a:p>
        </p:txBody>
      </p:sp>
      <p:sp>
        <p:nvSpPr>
          <p:cNvPr id="6" name="TextBox 5"/>
          <p:cNvSpPr txBox="1"/>
          <p:nvPr/>
        </p:nvSpPr>
        <p:spPr>
          <a:xfrm>
            <a:off x="0" y="4572000"/>
            <a:ext cx="12191695" cy="548640"/>
          </a:xfrm>
          <a:prstGeom prst="rect">
            <a:avLst/>
          </a:prstGeom>
          <a:noFill/>
        </p:spPr>
        <p:txBody>
          <a:bodyPr wrap="square" anchor="t" lIns="25400" rIns="25400" tIns="12700" bIns="12700">
            <a:spAutoFit/>
          </a:bodyPr>
          <a:lstStyle/>
          <a:p>
            <a:pPr algn="ctr"/>
            <a:r>
              <a:rPr sz="2000" b="0">
                <a:solidFill>
                  <a:srgbClr val="CBC6BA"/>
                </a:solidFill>
                <a:latin typeface="Apple SD Gothic Neo"/>
              </a:rPr>
              <a:t>감사합니다</a:t>
            </a:r>
          </a:p>
        </p:txBody>
      </p:sp>
      <p:sp>
        <p:nvSpPr>
          <p:cNvPr id="7" name="TextBox 6"/>
          <p:cNvSpPr txBox="1"/>
          <p:nvPr/>
        </p:nvSpPr>
        <p:spPr>
          <a:xfrm>
            <a:off x="0" y="5166360"/>
            <a:ext cx="12191695" cy="457200"/>
          </a:xfrm>
          <a:prstGeom prst="rect">
            <a:avLst/>
          </a:prstGeom>
          <a:noFill/>
        </p:spPr>
        <p:txBody>
          <a:bodyPr wrap="square" anchor="t" lIns="25400" rIns="25400" tIns="12700" bIns="12700">
            <a:spAutoFit/>
          </a:bodyPr>
          <a:lstStyle/>
          <a:p>
            <a:pPr algn="ctr"/>
            <a:r>
              <a:rPr sz="1400" b="0">
                <a:solidFill>
                  <a:srgbClr val="6E6A60"/>
                </a:solidFill>
                <a:latin typeface="Apple SD Gothic Neo"/>
              </a:rPr>
              <a:t>이설 · rrksns@nate.com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